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20"/>
  </p:notesMasterIdLst>
  <p:handoutMasterIdLst>
    <p:handoutMasterId r:id="rId21"/>
  </p:handoutMasterIdLst>
  <p:sldIdLst>
    <p:sldId id="256" r:id="rId2"/>
    <p:sldId id="257" r:id="rId3"/>
    <p:sldId id="258" r:id="rId4"/>
    <p:sldId id="274" r:id="rId5"/>
    <p:sldId id="260" r:id="rId6"/>
    <p:sldId id="259" r:id="rId7"/>
    <p:sldId id="261" r:id="rId8"/>
    <p:sldId id="263" r:id="rId9"/>
    <p:sldId id="264" r:id="rId10"/>
    <p:sldId id="265" r:id="rId11"/>
    <p:sldId id="266" r:id="rId12"/>
    <p:sldId id="267" r:id="rId13"/>
    <p:sldId id="268" r:id="rId14"/>
    <p:sldId id="269" r:id="rId15"/>
    <p:sldId id="271" r:id="rId16"/>
    <p:sldId id="270"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22E713D-B38C-44B3-AA1B-BF7E4901F54A}">
          <p14:sldIdLst>
            <p14:sldId id="256"/>
            <p14:sldId id="257"/>
            <p14:sldId id="258"/>
            <p14:sldId id="274"/>
            <p14:sldId id="260"/>
            <p14:sldId id="259"/>
            <p14:sldId id="261"/>
            <p14:sldId id="263"/>
            <p14:sldId id="264"/>
            <p14:sldId id="265"/>
            <p14:sldId id="266"/>
            <p14:sldId id="267"/>
            <p14:sldId id="268"/>
            <p14:sldId id="269"/>
            <p14:sldId id="271"/>
            <p14:sldId id="270"/>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C77DDF-0A27-67B6-5BDF-F285B4C717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1F2C14-519F-1665-5873-A72F255643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4B00D6-E1FF-4B73-A053-E585B1FBE901}" type="datetimeFigureOut">
              <a:rPr lang="en-IN" smtClean="0"/>
              <a:t>17-08-2026</a:t>
            </a:fld>
            <a:endParaRPr lang="en-IN"/>
          </a:p>
        </p:txBody>
      </p:sp>
      <p:sp>
        <p:nvSpPr>
          <p:cNvPr id="4" name="Footer Placeholder 3">
            <a:extLst>
              <a:ext uri="{FF2B5EF4-FFF2-40B4-BE49-F238E27FC236}">
                <a16:creationId xmlns:a16="http://schemas.microsoft.com/office/drawing/2014/main" id="{EF24DCC8-0A82-FBB1-C5C8-0A3B68A7E0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E7E76C3-C0CF-299E-70A1-6269DB6591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8F4E45-0858-4043-A964-1C66277AD123}" type="slidenum">
              <a:rPr lang="en-IN" smtClean="0"/>
              <a:t>‹#›</a:t>
            </a:fld>
            <a:endParaRPr lang="en-IN"/>
          </a:p>
        </p:txBody>
      </p:sp>
    </p:spTree>
    <p:extLst>
      <p:ext uri="{BB962C8B-B14F-4D97-AF65-F5344CB8AC3E}">
        <p14:creationId xmlns:p14="http://schemas.microsoft.com/office/powerpoint/2010/main" val="1157035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34C36-70B1-45F6-9FDE-F1D24E79F56D}" type="datetimeFigureOut">
              <a:rPr lang="en-IN" smtClean="0"/>
              <a:t>17-08-2026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F6A76-F437-4B4B-8482-7210935BA7C7}" type="slidenum">
              <a:rPr lang="en-IN" smtClean="0"/>
              <a:t>‹#›</a:t>
            </a:fld>
            <a:endParaRPr lang="en-IN"/>
          </a:p>
        </p:txBody>
      </p:sp>
    </p:spTree>
    <p:extLst>
      <p:ext uri="{BB962C8B-B14F-4D97-AF65-F5344CB8AC3E}">
        <p14:creationId xmlns:p14="http://schemas.microsoft.com/office/powerpoint/2010/main" val="31286623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EF6A76-F437-4B4B-8482-7210935BA7C7}" type="slidenum">
              <a:rPr lang="en-IN" smtClean="0"/>
              <a:t>1</a:t>
            </a:fld>
            <a:endParaRPr lang="en-IN"/>
          </a:p>
        </p:txBody>
      </p:sp>
    </p:spTree>
    <p:extLst>
      <p:ext uri="{BB962C8B-B14F-4D97-AF65-F5344CB8AC3E}">
        <p14:creationId xmlns:p14="http://schemas.microsoft.com/office/powerpoint/2010/main" val="885904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ACCCB-E175-57DF-24EA-FD7B125D54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FCE3B5-1C30-5CEF-2519-0F3E17055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2DF157-475F-2413-9A18-8C99B0F3777E}"/>
              </a:ext>
            </a:extLst>
          </p:cNvPr>
          <p:cNvSpPr>
            <a:spLocks noGrp="1"/>
          </p:cNvSpPr>
          <p:nvPr>
            <p:ph type="dt" sz="half" idx="10"/>
          </p:nvPr>
        </p:nvSpPr>
        <p:spPr/>
        <p:txBody>
          <a:bodyPr/>
          <a:lstStyle/>
          <a:p>
            <a:fld id="{FD1E6F05-DC6D-47E4-BC4E-DB66993FE07D}" type="datetime1">
              <a:rPr lang="en-IN" smtClean="0"/>
              <a:t>17-08-2026</a:t>
            </a:fld>
            <a:endParaRPr lang="en-IN"/>
          </a:p>
        </p:txBody>
      </p:sp>
      <p:sp>
        <p:nvSpPr>
          <p:cNvPr id="5" name="Footer Placeholder 4">
            <a:extLst>
              <a:ext uri="{FF2B5EF4-FFF2-40B4-BE49-F238E27FC236}">
                <a16:creationId xmlns:a16="http://schemas.microsoft.com/office/drawing/2014/main" id="{F32620D2-DC7F-B2F2-0EA2-DA548AEDFE71}"/>
              </a:ext>
            </a:extLst>
          </p:cNvPr>
          <p:cNvSpPr>
            <a:spLocks noGrp="1"/>
          </p:cNvSpPr>
          <p:nvPr>
            <p:ph type="ftr" sz="quarter" idx="11"/>
          </p:nvPr>
        </p:nvSpPr>
        <p:spPr/>
        <p:txBody>
          <a:bodyPr/>
          <a:lstStyle/>
          <a:p>
            <a:r>
              <a:rPr lang="en-IN"/>
              <a:t>Project title</a:t>
            </a:r>
          </a:p>
        </p:txBody>
      </p:sp>
      <p:sp>
        <p:nvSpPr>
          <p:cNvPr id="6" name="Slide Number Placeholder 5">
            <a:extLst>
              <a:ext uri="{FF2B5EF4-FFF2-40B4-BE49-F238E27FC236}">
                <a16:creationId xmlns:a16="http://schemas.microsoft.com/office/drawing/2014/main" id="{59035AC5-403F-A47E-E941-5EEB21D46E5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8694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CD6A-AF0F-7AD6-7A7C-AE6A86E812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8BD31-11F1-A76F-4F35-D68096911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168E4-CF8E-21D0-0E03-53396B119ABB}"/>
              </a:ext>
            </a:extLst>
          </p:cNvPr>
          <p:cNvSpPr>
            <a:spLocks noGrp="1"/>
          </p:cNvSpPr>
          <p:nvPr>
            <p:ph type="dt" sz="half" idx="10"/>
          </p:nvPr>
        </p:nvSpPr>
        <p:spPr/>
        <p:txBody>
          <a:bodyPr/>
          <a:lstStyle/>
          <a:p>
            <a:fld id="{8E21C1E4-B2AE-4392-AB29-02E259131234}" type="datetime1">
              <a:rPr lang="en-IN" smtClean="0"/>
              <a:t>17-08-2026</a:t>
            </a:fld>
            <a:endParaRPr lang="en-IN"/>
          </a:p>
        </p:txBody>
      </p:sp>
      <p:sp>
        <p:nvSpPr>
          <p:cNvPr id="5" name="Footer Placeholder 4">
            <a:extLst>
              <a:ext uri="{FF2B5EF4-FFF2-40B4-BE49-F238E27FC236}">
                <a16:creationId xmlns:a16="http://schemas.microsoft.com/office/drawing/2014/main" id="{CCBF465C-6C94-5A19-8095-13922281C2DC}"/>
              </a:ext>
            </a:extLst>
          </p:cNvPr>
          <p:cNvSpPr>
            <a:spLocks noGrp="1"/>
          </p:cNvSpPr>
          <p:nvPr>
            <p:ph type="ftr" sz="quarter" idx="11"/>
          </p:nvPr>
        </p:nvSpPr>
        <p:spPr/>
        <p:txBody>
          <a:bodyPr/>
          <a:lstStyle/>
          <a:p>
            <a:r>
              <a:rPr lang="en-IN"/>
              <a:t>Project title</a:t>
            </a:r>
          </a:p>
        </p:txBody>
      </p:sp>
      <p:sp>
        <p:nvSpPr>
          <p:cNvPr id="6" name="Slide Number Placeholder 5">
            <a:extLst>
              <a:ext uri="{FF2B5EF4-FFF2-40B4-BE49-F238E27FC236}">
                <a16:creationId xmlns:a16="http://schemas.microsoft.com/office/drawing/2014/main" id="{0306AA8D-3739-E96E-0A3F-1FFC9B3F873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026017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5A6B-F1C1-9EB4-A060-5B25A0F3EA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161C07-B202-8596-07A9-22822C9DF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4F265-5CE9-9191-6286-2C9AE5F0B41D}"/>
              </a:ext>
            </a:extLst>
          </p:cNvPr>
          <p:cNvSpPr>
            <a:spLocks noGrp="1"/>
          </p:cNvSpPr>
          <p:nvPr>
            <p:ph type="dt" sz="half" idx="10"/>
          </p:nvPr>
        </p:nvSpPr>
        <p:spPr/>
        <p:txBody>
          <a:bodyPr/>
          <a:lstStyle/>
          <a:p>
            <a:fld id="{DF399F14-4D16-4A9D-B518-B657D7B7B964}" type="datetime1">
              <a:rPr lang="en-IN" smtClean="0"/>
              <a:t>17-08-2026</a:t>
            </a:fld>
            <a:endParaRPr lang="en-IN"/>
          </a:p>
        </p:txBody>
      </p:sp>
      <p:sp>
        <p:nvSpPr>
          <p:cNvPr id="5" name="Footer Placeholder 4">
            <a:extLst>
              <a:ext uri="{FF2B5EF4-FFF2-40B4-BE49-F238E27FC236}">
                <a16:creationId xmlns:a16="http://schemas.microsoft.com/office/drawing/2014/main" id="{D681E1B0-75C0-03D7-9824-CA075284B38F}"/>
              </a:ext>
            </a:extLst>
          </p:cNvPr>
          <p:cNvSpPr>
            <a:spLocks noGrp="1"/>
          </p:cNvSpPr>
          <p:nvPr>
            <p:ph type="ftr" sz="quarter" idx="11"/>
          </p:nvPr>
        </p:nvSpPr>
        <p:spPr/>
        <p:txBody>
          <a:bodyPr/>
          <a:lstStyle/>
          <a:p>
            <a:r>
              <a:rPr lang="en-IN"/>
              <a:t>Project title</a:t>
            </a:r>
          </a:p>
        </p:txBody>
      </p:sp>
      <p:sp>
        <p:nvSpPr>
          <p:cNvPr id="6" name="Slide Number Placeholder 5">
            <a:extLst>
              <a:ext uri="{FF2B5EF4-FFF2-40B4-BE49-F238E27FC236}">
                <a16:creationId xmlns:a16="http://schemas.microsoft.com/office/drawing/2014/main" id="{5189738F-0524-AB68-D6DB-3A4E3B30CA0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0770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F7E3-61D6-8491-1328-714F597035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7D3BCC-F5B5-90E7-1B9B-4B86B2286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C0F7E7-5B74-070A-47CE-41CB80123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5422ED-FA86-4920-5DDD-EF5BAB071BB7}"/>
              </a:ext>
            </a:extLst>
          </p:cNvPr>
          <p:cNvSpPr>
            <a:spLocks noGrp="1"/>
          </p:cNvSpPr>
          <p:nvPr>
            <p:ph type="dt" sz="half" idx="10"/>
          </p:nvPr>
        </p:nvSpPr>
        <p:spPr/>
        <p:txBody>
          <a:bodyPr/>
          <a:lstStyle/>
          <a:p>
            <a:fld id="{FF02610E-8BE6-4A22-AFB0-E3C99039A5A3}" type="datetime1">
              <a:rPr lang="en-IN" smtClean="0"/>
              <a:t>17-08-2026</a:t>
            </a:fld>
            <a:endParaRPr lang="en-IN"/>
          </a:p>
        </p:txBody>
      </p:sp>
      <p:sp>
        <p:nvSpPr>
          <p:cNvPr id="6" name="Footer Placeholder 5">
            <a:extLst>
              <a:ext uri="{FF2B5EF4-FFF2-40B4-BE49-F238E27FC236}">
                <a16:creationId xmlns:a16="http://schemas.microsoft.com/office/drawing/2014/main" id="{632C7351-93DD-02B8-418D-4758BB5266AA}"/>
              </a:ext>
            </a:extLst>
          </p:cNvPr>
          <p:cNvSpPr>
            <a:spLocks noGrp="1"/>
          </p:cNvSpPr>
          <p:nvPr>
            <p:ph type="ftr" sz="quarter" idx="11"/>
          </p:nvPr>
        </p:nvSpPr>
        <p:spPr/>
        <p:txBody>
          <a:bodyPr/>
          <a:lstStyle/>
          <a:p>
            <a:r>
              <a:rPr lang="en-IN"/>
              <a:t>Project title</a:t>
            </a:r>
          </a:p>
        </p:txBody>
      </p:sp>
      <p:sp>
        <p:nvSpPr>
          <p:cNvPr id="7" name="Slide Number Placeholder 6">
            <a:extLst>
              <a:ext uri="{FF2B5EF4-FFF2-40B4-BE49-F238E27FC236}">
                <a16:creationId xmlns:a16="http://schemas.microsoft.com/office/drawing/2014/main" id="{D2E1A715-8247-0449-9A75-090C2AC04B6C}"/>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2007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0879-59A2-9993-5923-31956486CE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34AD61-0E56-D989-0F6E-E2475CED0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1878A4-D7B6-8C42-F70F-B46C102B4C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60B250-122E-ED60-C1CE-B01FF6F64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170AD3-919D-BA8B-B107-88B0AE5EC8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676A1F-60B9-95CE-E92F-BE7C1FBCA8C8}"/>
              </a:ext>
            </a:extLst>
          </p:cNvPr>
          <p:cNvSpPr>
            <a:spLocks noGrp="1"/>
          </p:cNvSpPr>
          <p:nvPr>
            <p:ph type="dt" sz="half" idx="10"/>
          </p:nvPr>
        </p:nvSpPr>
        <p:spPr/>
        <p:txBody>
          <a:bodyPr/>
          <a:lstStyle/>
          <a:p>
            <a:fld id="{AC432CC3-291B-425C-9251-E5FB16DB4244}" type="datetime1">
              <a:rPr lang="en-IN" smtClean="0"/>
              <a:t>17-08-2026</a:t>
            </a:fld>
            <a:endParaRPr lang="en-IN"/>
          </a:p>
        </p:txBody>
      </p:sp>
      <p:sp>
        <p:nvSpPr>
          <p:cNvPr id="8" name="Footer Placeholder 7">
            <a:extLst>
              <a:ext uri="{FF2B5EF4-FFF2-40B4-BE49-F238E27FC236}">
                <a16:creationId xmlns:a16="http://schemas.microsoft.com/office/drawing/2014/main" id="{0505E6BD-7F75-F160-B5AE-BC0CB39A00D6}"/>
              </a:ext>
            </a:extLst>
          </p:cNvPr>
          <p:cNvSpPr>
            <a:spLocks noGrp="1"/>
          </p:cNvSpPr>
          <p:nvPr>
            <p:ph type="ftr" sz="quarter" idx="11"/>
          </p:nvPr>
        </p:nvSpPr>
        <p:spPr/>
        <p:txBody>
          <a:bodyPr/>
          <a:lstStyle/>
          <a:p>
            <a:r>
              <a:rPr lang="en-IN"/>
              <a:t>Project title</a:t>
            </a:r>
          </a:p>
        </p:txBody>
      </p:sp>
      <p:sp>
        <p:nvSpPr>
          <p:cNvPr id="9" name="Slide Number Placeholder 8">
            <a:extLst>
              <a:ext uri="{FF2B5EF4-FFF2-40B4-BE49-F238E27FC236}">
                <a16:creationId xmlns:a16="http://schemas.microsoft.com/office/drawing/2014/main" id="{52C4F82A-2F5F-AFF5-B7E5-195A9F7249CE}"/>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37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701F4-BED2-1AAD-97E2-15FD1168B0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E9C3BD-B4F1-048A-3697-B165EAC0874B}"/>
              </a:ext>
            </a:extLst>
          </p:cNvPr>
          <p:cNvSpPr>
            <a:spLocks noGrp="1"/>
          </p:cNvSpPr>
          <p:nvPr>
            <p:ph type="dt" sz="half" idx="10"/>
          </p:nvPr>
        </p:nvSpPr>
        <p:spPr/>
        <p:txBody>
          <a:bodyPr/>
          <a:lstStyle/>
          <a:p>
            <a:fld id="{DF95EC3F-A5D9-4912-AD00-3C23043B03DB}" type="datetime1">
              <a:rPr lang="en-IN" smtClean="0"/>
              <a:t>17-08-2026</a:t>
            </a:fld>
            <a:endParaRPr lang="en-IN"/>
          </a:p>
        </p:txBody>
      </p:sp>
      <p:sp>
        <p:nvSpPr>
          <p:cNvPr id="4" name="Footer Placeholder 3">
            <a:extLst>
              <a:ext uri="{FF2B5EF4-FFF2-40B4-BE49-F238E27FC236}">
                <a16:creationId xmlns:a16="http://schemas.microsoft.com/office/drawing/2014/main" id="{EA03806D-6534-3CB8-9569-E2F8462C40D5}"/>
              </a:ext>
            </a:extLst>
          </p:cNvPr>
          <p:cNvSpPr>
            <a:spLocks noGrp="1"/>
          </p:cNvSpPr>
          <p:nvPr>
            <p:ph type="ftr" sz="quarter" idx="11"/>
          </p:nvPr>
        </p:nvSpPr>
        <p:spPr/>
        <p:txBody>
          <a:bodyPr/>
          <a:lstStyle/>
          <a:p>
            <a:r>
              <a:rPr lang="en-IN"/>
              <a:t>Project title</a:t>
            </a:r>
          </a:p>
        </p:txBody>
      </p:sp>
      <p:sp>
        <p:nvSpPr>
          <p:cNvPr id="5" name="Slide Number Placeholder 4">
            <a:extLst>
              <a:ext uri="{FF2B5EF4-FFF2-40B4-BE49-F238E27FC236}">
                <a16:creationId xmlns:a16="http://schemas.microsoft.com/office/drawing/2014/main" id="{E855F470-2CEF-BAFE-7D89-13162D55866D}"/>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698153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61FC1-61B2-0BEC-36EF-3DE62DB9ABC2}"/>
              </a:ext>
            </a:extLst>
          </p:cNvPr>
          <p:cNvSpPr>
            <a:spLocks noGrp="1"/>
          </p:cNvSpPr>
          <p:nvPr>
            <p:ph type="dt" sz="half" idx="10"/>
          </p:nvPr>
        </p:nvSpPr>
        <p:spPr/>
        <p:txBody>
          <a:bodyPr/>
          <a:lstStyle/>
          <a:p>
            <a:fld id="{E38777CC-F24B-4E1D-8E0A-8868B047E3AE}" type="datetime1">
              <a:rPr lang="en-IN" smtClean="0"/>
              <a:t>17-08-2026</a:t>
            </a:fld>
            <a:endParaRPr lang="en-IN"/>
          </a:p>
        </p:txBody>
      </p:sp>
      <p:sp>
        <p:nvSpPr>
          <p:cNvPr id="3" name="Footer Placeholder 2">
            <a:extLst>
              <a:ext uri="{FF2B5EF4-FFF2-40B4-BE49-F238E27FC236}">
                <a16:creationId xmlns:a16="http://schemas.microsoft.com/office/drawing/2014/main" id="{A0D6DB32-5E56-9AF3-6840-1B34E91C4CB4}"/>
              </a:ext>
            </a:extLst>
          </p:cNvPr>
          <p:cNvSpPr>
            <a:spLocks noGrp="1"/>
          </p:cNvSpPr>
          <p:nvPr>
            <p:ph type="ftr" sz="quarter" idx="11"/>
          </p:nvPr>
        </p:nvSpPr>
        <p:spPr/>
        <p:txBody>
          <a:bodyPr/>
          <a:lstStyle/>
          <a:p>
            <a:r>
              <a:rPr lang="en-IN"/>
              <a:t>Project title</a:t>
            </a:r>
          </a:p>
        </p:txBody>
      </p:sp>
      <p:sp>
        <p:nvSpPr>
          <p:cNvPr id="4" name="Slide Number Placeholder 3">
            <a:extLst>
              <a:ext uri="{FF2B5EF4-FFF2-40B4-BE49-F238E27FC236}">
                <a16:creationId xmlns:a16="http://schemas.microsoft.com/office/drawing/2014/main" id="{26A33A9D-2826-6D71-05BE-6B8D457012D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5505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E002-737C-263E-A4E0-BF90604D8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7599A4-C8E8-FC9F-25B9-D033802111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0CDDF6-A347-9627-45DD-1B0CAA19C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C2D6B-F737-2EBE-5E8C-0BB78FDFA5E3}"/>
              </a:ext>
            </a:extLst>
          </p:cNvPr>
          <p:cNvSpPr>
            <a:spLocks noGrp="1"/>
          </p:cNvSpPr>
          <p:nvPr>
            <p:ph type="dt" sz="half" idx="10"/>
          </p:nvPr>
        </p:nvSpPr>
        <p:spPr/>
        <p:txBody>
          <a:bodyPr/>
          <a:lstStyle/>
          <a:p>
            <a:fld id="{67BB581E-404A-43EB-869B-A2DFF9BB124C}" type="datetime1">
              <a:rPr lang="en-IN" smtClean="0"/>
              <a:t>17-08-2026</a:t>
            </a:fld>
            <a:endParaRPr lang="en-IN"/>
          </a:p>
        </p:txBody>
      </p:sp>
      <p:sp>
        <p:nvSpPr>
          <p:cNvPr id="6" name="Footer Placeholder 5">
            <a:extLst>
              <a:ext uri="{FF2B5EF4-FFF2-40B4-BE49-F238E27FC236}">
                <a16:creationId xmlns:a16="http://schemas.microsoft.com/office/drawing/2014/main" id="{C1785B18-D373-F253-5581-CF1C04E35F0E}"/>
              </a:ext>
            </a:extLst>
          </p:cNvPr>
          <p:cNvSpPr>
            <a:spLocks noGrp="1"/>
          </p:cNvSpPr>
          <p:nvPr>
            <p:ph type="ftr" sz="quarter" idx="11"/>
          </p:nvPr>
        </p:nvSpPr>
        <p:spPr/>
        <p:txBody>
          <a:bodyPr/>
          <a:lstStyle/>
          <a:p>
            <a:r>
              <a:rPr lang="en-IN"/>
              <a:t>Project title</a:t>
            </a:r>
          </a:p>
        </p:txBody>
      </p:sp>
      <p:sp>
        <p:nvSpPr>
          <p:cNvPr id="7" name="Slide Number Placeholder 6">
            <a:extLst>
              <a:ext uri="{FF2B5EF4-FFF2-40B4-BE49-F238E27FC236}">
                <a16:creationId xmlns:a16="http://schemas.microsoft.com/office/drawing/2014/main" id="{6BD5C7CE-A6DD-CD7E-7AF4-719C1B646F8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71200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8CCD2-0CAD-E143-4AED-BF6232E4D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E0C940-6F35-3FA0-09D1-81974FB73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133F76-869F-7C98-8621-02EAAF7F9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BF9FDD-7956-7A3E-DF1B-E917B4C39FF6}"/>
              </a:ext>
            </a:extLst>
          </p:cNvPr>
          <p:cNvSpPr>
            <a:spLocks noGrp="1"/>
          </p:cNvSpPr>
          <p:nvPr>
            <p:ph type="dt" sz="half" idx="10"/>
          </p:nvPr>
        </p:nvSpPr>
        <p:spPr/>
        <p:txBody>
          <a:bodyPr/>
          <a:lstStyle/>
          <a:p>
            <a:fld id="{69AE7F98-47E5-468A-86DF-428F1983308C}" type="datetime1">
              <a:rPr lang="en-IN" smtClean="0"/>
              <a:t>17-08-2026</a:t>
            </a:fld>
            <a:endParaRPr lang="en-IN"/>
          </a:p>
        </p:txBody>
      </p:sp>
      <p:sp>
        <p:nvSpPr>
          <p:cNvPr id="6" name="Footer Placeholder 5">
            <a:extLst>
              <a:ext uri="{FF2B5EF4-FFF2-40B4-BE49-F238E27FC236}">
                <a16:creationId xmlns:a16="http://schemas.microsoft.com/office/drawing/2014/main" id="{5228230D-B290-ED5F-5C68-CE723BCCA18C}"/>
              </a:ext>
            </a:extLst>
          </p:cNvPr>
          <p:cNvSpPr>
            <a:spLocks noGrp="1"/>
          </p:cNvSpPr>
          <p:nvPr>
            <p:ph type="ftr" sz="quarter" idx="11"/>
          </p:nvPr>
        </p:nvSpPr>
        <p:spPr/>
        <p:txBody>
          <a:bodyPr/>
          <a:lstStyle/>
          <a:p>
            <a:r>
              <a:rPr lang="en-IN"/>
              <a:t>Project title</a:t>
            </a:r>
          </a:p>
        </p:txBody>
      </p:sp>
      <p:sp>
        <p:nvSpPr>
          <p:cNvPr id="7" name="Slide Number Placeholder 6">
            <a:extLst>
              <a:ext uri="{FF2B5EF4-FFF2-40B4-BE49-F238E27FC236}">
                <a16:creationId xmlns:a16="http://schemas.microsoft.com/office/drawing/2014/main" id="{1119775D-FAF7-3543-22DF-BD7C5A373C1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92070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5FB7-6D0C-1E16-0A66-E68B9D2C05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CEE2B5-8C5E-58D4-A3F9-3A30318733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A91197-E419-0573-70A8-DE688D37A4AC}"/>
              </a:ext>
            </a:extLst>
          </p:cNvPr>
          <p:cNvSpPr>
            <a:spLocks noGrp="1"/>
          </p:cNvSpPr>
          <p:nvPr>
            <p:ph type="dt" sz="half" idx="10"/>
          </p:nvPr>
        </p:nvSpPr>
        <p:spPr/>
        <p:txBody>
          <a:bodyPr/>
          <a:lstStyle/>
          <a:p>
            <a:fld id="{4B701A07-A4A5-4525-9DAC-45B83D2BD9DD}" type="datetime1">
              <a:rPr lang="en-IN" smtClean="0"/>
              <a:t>17-08-2026</a:t>
            </a:fld>
            <a:endParaRPr lang="en-IN"/>
          </a:p>
        </p:txBody>
      </p:sp>
      <p:sp>
        <p:nvSpPr>
          <p:cNvPr id="5" name="Footer Placeholder 4">
            <a:extLst>
              <a:ext uri="{FF2B5EF4-FFF2-40B4-BE49-F238E27FC236}">
                <a16:creationId xmlns:a16="http://schemas.microsoft.com/office/drawing/2014/main" id="{0CFCDE99-3310-5C8E-4F2A-AC0ACD95C2C2}"/>
              </a:ext>
            </a:extLst>
          </p:cNvPr>
          <p:cNvSpPr>
            <a:spLocks noGrp="1"/>
          </p:cNvSpPr>
          <p:nvPr>
            <p:ph type="ftr" sz="quarter" idx="11"/>
          </p:nvPr>
        </p:nvSpPr>
        <p:spPr/>
        <p:txBody>
          <a:bodyPr/>
          <a:lstStyle/>
          <a:p>
            <a:r>
              <a:rPr lang="en-IN"/>
              <a:t>Project title</a:t>
            </a:r>
          </a:p>
        </p:txBody>
      </p:sp>
      <p:sp>
        <p:nvSpPr>
          <p:cNvPr id="6" name="Slide Number Placeholder 5">
            <a:extLst>
              <a:ext uri="{FF2B5EF4-FFF2-40B4-BE49-F238E27FC236}">
                <a16:creationId xmlns:a16="http://schemas.microsoft.com/office/drawing/2014/main" id="{83798FA3-7C23-3214-D38F-392AD8DFD97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3222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A8C7CF-4623-DEC8-14AE-619295942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61983F-2C6C-FD2E-187E-44A0B441A9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26E63-6CAC-E9E4-BF3F-C256D79316E9}"/>
              </a:ext>
            </a:extLst>
          </p:cNvPr>
          <p:cNvSpPr>
            <a:spLocks noGrp="1"/>
          </p:cNvSpPr>
          <p:nvPr>
            <p:ph type="dt" sz="half" idx="10"/>
          </p:nvPr>
        </p:nvSpPr>
        <p:spPr/>
        <p:txBody>
          <a:bodyPr/>
          <a:lstStyle/>
          <a:p>
            <a:fld id="{0BF78843-3D4E-472B-9BB7-5AC2BC7E925C}" type="datetime1">
              <a:rPr lang="en-IN" smtClean="0"/>
              <a:t>17-08-2026</a:t>
            </a:fld>
            <a:endParaRPr lang="en-IN"/>
          </a:p>
        </p:txBody>
      </p:sp>
      <p:sp>
        <p:nvSpPr>
          <p:cNvPr id="5" name="Footer Placeholder 4">
            <a:extLst>
              <a:ext uri="{FF2B5EF4-FFF2-40B4-BE49-F238E27FC236}">
                <a16:creationId xmlns:a16="http://schemas.microsoft.com/office/drawing/2014/main" id="{66E2C139-7A5D-5405-E52E-049003BEA60D}"/>
              </a:ext>
            </a:extLst>
          </p:cNvPr>
          <p:cNvSpPr>
            <a:spLocks noGrp="1"/>
          </p:cNvSpPr>
          <p:nvPr>
            <p:ph type="ftr" sz="quarter" idx="11"/>
          </p:nvPr>
        </p:nvSpPr>
        <p:spPr/>
        <p:txBody>
          <a:bodyPr/>
          <a:lstStyle/>
          <a:p>
            <a:r>
              <a:rPr lang="en-IN"/>
              <a:t>Project title</a:t>
            </a:r>
          </a:p>
        </p:txBody>
      </p:sp>
      <p:sp>
        <p:nvSpPr>
          <p:cNvPr id="6" name="Slide Number Placeholder 5">
            <a:extLst>
              <a:ext uri="{FF2B5EF4-FFF2-40B4-BE49-F238E27FC236}">
                <a16:creationId xmlns:a16="http://schemas.microsoft.com/office/drawing/2014/main" id="{EA544655-C0E1-8A45-9962-DEB5CF93A4B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15182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B3B46B-1610-0CE6-7155-D123E3741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4927F-6A1D-B152-1C11-14603B53F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B9BDF-D021-93E2-48DC-E3FB251E0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6C358A-A108-4FD9-866C-97594464C741}" type="datetime1">
              <a:rPr lang="en-IN" smtClean="0"/>
              <a:t>17-08-2026</a:t>
            </a:fld>
            <a:endParaRPr lang="en-IN"/>
          </a:p>
        </p:txBody>
      </p:sp>
      <p:sp>
        <p:nvSpPr>
          <p:cNvPr id="5" name="Footer Placeholder 4">
            <a:extLst>
              <a:ext uri="{FF2B5EF4-FFF2-40B4-BE49-F238E27FC236}">
                <a16:creationId xmlns:a16="http://schemas.microsoft.com/office/drawing/2014/main" id="{1DAC4683-C2DB-CF7A-5C79-0094EA7CF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Project title</a:t>
            </a:r>
          </a:p>
        </p:txBody>
      </p:sp>
      <p:sp>
        <p:nvSpPr>
          <p:cNvPr id="6" name="Slide Number Placeholder 5">
            <a:extLst>
              <a:ext uri="{FF2B5EF4-FFF2-40B4-BE49-F238E27FC236}">
                <a16:creationId xmlns:a16="http://schemas.microsoft.com/office/drawing/2014/main" id="{1C827840-6CAF-B6FA-3558-8E7408C33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26DCF-DF60-4378-BFCC-D3A207344837}" type="slidenum">
              <a:rPr lang="en-IN" smtClean="0"/>
              <a:t>‹#›</a:t>
            </a:fld>
            <a:endParaRPr lang="en-IN"/>
          </a:p>
        </p:txBody>
      </p:sp>
    </p:spTree>
    <p:extLst>
      <p:ext uri="{BB962C8B-B14F-4D97-AF65-F5344CB8AC3E}">
        <p14:creationId xmlns:p14="http://schemas.microsoft.com/office/powerpoint/2010/main" val="24791143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github.com/Aswinsaipalakonda/WayCod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slide" Target="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BAEA-A6E1-3B7C-66B0-6AA9B4168507}"/>
              </a:ext>
            </a:extLst>
          </p:cNvPr>
          <p:cNvSpPr>
            <a:spLocks noGrp="1"/>
          </p:cNvSpPr>
          <p:nvPr>
            <p:ph type="ctrTitle"/>
          </p:nvPr>
        </p:nvSpPr>
        <p:spPr>
          <a:xfrm>
            <a:off x="1030146" y="1087567"/>
            <a:ext cx="10070473" cy="814592"/>
          </a:xfrm>
        </p:spPr>
        <p:txBody>
          <a:bodyPr>
            <a:noAutofit/>
          </a:bodyPr>
          <a:lstStyle/>
          <a:p>
            <a:pPr>
              <a:lnSpc>
                <a:spcPct val="107000"/>
              </a:lnSpc>
              <a:spcAft>
                <a:spcPts val="800"/>
              </a:spcAft>
              <a:buNone/>
            </a:pP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r>
              <a:rPr lang="en-IN" sz="2200" b="1" dirty="0">
                <a:solidFill/>
                <a:latin typeface="Times New Roman" panose="02020603050405020304" pitchFamily="18" charset="0"/>
                <a:cs typeface="Times New Roman" panose="02020603050405020304" pitchFamily="18" charset="0"/>
              </a:rPr>
              <a:t>Major Project </a:t>
            </a:r>
            <a:br>
              <a:rPr lang="en-IN" sz="2200" b="1" dirty="0">
                <a:latin typeface="Times New Roman" panose="02020603050405020304" pitchFamily="18" charset="0"/>
                <a:cs typeface="Times New Roman" panose="02020603050405020304" pitchFamily="18" charset="0"/>
              </a:rPr>
            </a:br>
            <a:r>
              <a:rPr lang="en-IN" sz="2200" b="1" dirty="0">
                <a:solidFill/>
                <a:latin typeface="Times New Roman" panose="02020603050405020304" pitchFamily="18" charset="0"/>
                <a:cs typeface="Times New Roman" panose="02020603050405020304" pitchFamily="18" charset="0"/>
              </a:rPr>
              <a:t>Branch: </a:t>
            </a:r>
            <a:r>
              <a:rPr lang="en-US" sz="2200" b="1" dirty="0">
                <a:solidFill>
                  <a:schemeClr val="accent2">
                    <a:lumMod val="75000"/>
                  </a:schemeClr>
                </a:solidFill>
                <a:latin typeface="Times New Roman" panose="02020603050405020304" pitchFamily="18" charset="0"/>
                <a:cs typeface="Times New Roman" panose="02020603050405020304" pitchFamily="18" charset="0"/>
              </a:rPr>
              <a:t> CSE – IOT &amp; Cyber Security including Blockchain Technology</a:t>
            </a:r>
            <a:br>
              <a:rPr lang="en-IN" sz="2200" b="1" dirty="0">
                <a:latin typeface="Times New Roman" panose="02020603050405020304" pitchFamily="18" charset="0"/>
                <a:cs typeface="Times New Roman" panose="02020603050405020304" pitchFamily="18" charset="0"/>
              </a:rPr>
            </a:br>
            <a:r>
              <a:rPr lang="en-IN" sz="2200" b="1" dirty="0">
                <a:solidFill/>
                <a:latin typeface="Times New Roman" panose="02020603050405020304" pitchFamily="18" charset="0"/>
                <a:cs typeface="Times New Roman" panose="02020603050405020304" pitchFamily="18" charset="0"/>
              </a:rPr>
              <a:t>Department: Data Engineering </a:t>
            </a:r>
            <a:br>
              <a:rPr lang="en-IN" sz="2200" b="1" dirty="0">
                <a:latin typeface="Times New Roman" panose="02020603050405020304" pitchFamily="18" charset="0"/>
                <a:cs typeface="Times New Roman" panose="02020603050405020304" pitchFamily="18" charset="0"/>
              </a:rPr>
            </a:br>
            <a:r>
              <a:rPr lang="en-IN" sz="2200" b="1" dirty="0">
                <a:solidFill/>
                <a:latin typeface="Times New Roman" panose="02020603050405020304" pitchFamily="18" charset="0"/>
                <a:cs typeface="Times New Roman" panose="02020603050405020304" pitchFamily="18" charset="0"/>
              </a:rPr>
              <a:t>Semester: VII    Section: A          Regulation: R23       Course Code: </a:t>
            </a:r>
            <a:r>
              <a:rPr lang="en-IN" sz="2200" b="1" kern="100" dirty="0">
                <a:solidFill/>
                <a:effectLst/>
                <a:latin typeface="Times New Roman" panose="02020603050405020304" pitchFamily="18" charset="0"/>
                <a:ea typeface="Times New Roman" panose="02020603050405020304" pitchFamily="18" charset="0"/>
                <a:cs typeface="Times New Roman" panose="02020603050405020304" pitchFamily="18" charset="0"/>
              </a:rPr>
              <a:t>R23MSCSP003</a:t>
            </a:r>
            <a:endParaRPr lang="en-IN" sz="2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87393A-5152-2239-E68B-758F108442CF}"/>
              </a:ext>
            </a:extLst>
          </p:cNvPr>
          <p:cNvSpPr>
            <a:spLocks noGrp="1"/>
          </p:cNvSpPr>
          <p:nvPr>
            <p:ph type="subTitle" idx="1"/>
          </p:nvPr>
        </p:nvSpPr>
        <p:spPr>
          <a:xfrm>
            <a:off x="745847" y="1982521"/>
            <a:ext cx="9144000" cy="851288"/>
          </a:xfrm>
        </p:spPr>
        <p:txBody>
          <a:bodyPr>
            <a:normAutofit/>
          </a:bodyPr>
          <a:lstStyle/>
          <a:p>
            <a:pPr algn="just"/>
            <a:r>
              <a:rPr lang="en-IN" sz="2000" b="1" dirty="0">
                <a:solidFill/>
                <a:latin typeface="Times New Roman" panose="02020603050405020304" pitchFamily="18" charset="0"/>
                <a:cs typeface="Times New Roman" panose="02020603050405020304" pitchFamily="18" charset="0"/>
              </a:rPr>
              <a:t>Project Title:   </a:t>
            </a:r>
          </a:p>
          <a:p>
            <a:pPr algn="just"/>
            <a:r>
              <a:rPr lang="en-IN" sz="2000" b="1" dirty="0">
                <a:solidFill/>
                <a:latin typeface="Times New Roman" panose="02020603050405020304" pitchFamily="18" charset="0"/>
                <a:cs typeface="Times New Roman" panose="02020603050405020304" pitchFamily="18" charset="0"/>
              </a:rPr>
              <a:t>Batch Number:    </a:t>
            </a:r>
            <a:r>
              <a:rPr lang="en-IN" sz="2000" dirty="0">
                <a:solidFill/>
                <a:latin typeface="Times New Roman" panose="02020603050405020304" pitchFamily="18" charset="0"/>
                <a:cs typeface="Times New Roman" panose="02020603050405020304" pitchFamily="18" charset="0"/>
              </a:rPr>
              <a:t>                       </a:t>
            </a:r>
          </a:p>
        </p:txBody>
      </p:sp>
      <p:graphicFrame>
        <p:nvGraphicFramePr>
          <p:cNvPr id="5" name="Table 4">
            <a:extLst>
              <a:ext uri="{FF2B5EF4-FFF2-40B4-BE49-F238E27FC236}">
                <a16:creationId xmlns:a16="http://schemas.microsoft.com/office/drawing/2014/main" id="{860522D6-D17F-C571-6E54-DC1EB5D4FD69}"/>
              </a:ext>
            </a:extLst>
          </p:cNvPr>
          <p:cNvGraphicFramePr>
            <a:graphicFrameLocks noGrp="1"/>
          </p:cNvGraphicFramePr>
          <p:nvPr>
            <p:extLst>
              <p:ext uri="{D42A27DB-BD31-4B8C-83A1-F6EECF244321}">
                <p14:modId xmlns:p14="http://schemas.microsoft.com/office/powerpoint/2010/main" val="1708693106"/>
              </p:ext>
            </p:extLst>
          </p:nvPr>
        </p:nvGraphicFramePr>
        <p:xfrm>
          <a:off x="3123336" y="2841523"/>
          <a:ext cx="6246761" cy="1849120"/>
        </p:xfrm>
        <a:graphic>
          <a:graphicData uri="http://schemas.openxmlformats.org/drawingml/2006/table">
            <a:tbl>
              <a:tblPr firstRow="1" bandRow="1">
                <a:tableStyleId>{5C22544A-7EE6-4342-B048-85BDC9FD1C3A}</a:tableStyleId>
              </a:tblPr>
              <a:tblGrid>
                <a:gridCol w="1035664">
                  <a:extLst>
                    <a:ext uri="{9D8B030D-6E8A-4147-A177-3AD203B41FA5}">
                      <a16:colId xmlns:a16="http://schemas.microsoft.com/office/drawing/2014/main" val="2978184859"/>
                    </a:ext>
                  </a:extLst>
                </a:gridCol>
                <a:gridCol w="2408903">
                  <a:extLst>
                    <a:ext uri="{9D8B030D-6E8A-4147-A177-3AD203B41FA5}">
                      <a16:colId xmlns:a16="http://schemas.microsoft.com/office/drawing/2014/main" val="2193938237"/>
                    </a:ext>
                  </a:extLst>
                </a:gridCol>
                <a:gridCol w="2802194">
                  <a:extLst>
                    <a:ext uri="{9D8B030D-6E8A-4147-A177-3AD203B41FA5}">
                      <a16:colId xmlns:a16="http://schemas.microsoft.com/office/drawing/2014/main" val="2017919128"/>
                    </a:ext>
                  </a:extLst>
                </a:gridCol>
              </a:tblGrid>
              <a:tr h="280548">
                <a:tc>
                  <a:txBody>
                    <a:bodyPr/>
                    <a:lstStyle/>
                    <a:p>
                      <a:pPr algn="ctr"/>
                      <a:r>
                        <a:rPr lang="en-IN" dirty="0">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Register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80993"/>
                  </a:ext>
                </a:extLst>
              </a:tr>
              <a:tr h="370840">
                <a:tc>
                  <a:txBody>
                    <a:bodyPr/>
                    <a:lstStyle/>
                    <a:p>
                      <a:r>
                        <a:rPr lang="en-IN"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23331A4745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Palakonda Aswinsai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5102560"/>
                  </a:ext>
                </a:extLst>
              </a:tr>
              <a:tr h="370840">
                <a:tc>
                  <a:txBody>
                    <a:bodyPr/>
                    <a:lstStyle/>
                    <a:p>
                      <a:r>
                        <a:rPr lang="en-IN"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23331A4732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Marpu Phanindra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9443936"/>
                  </a:ext>
                </a:extLst>
              </a:tr>
              <a:tr h="370840">
                <a:tc>
                  <a:txBody>
                    <a:bodyPr/>
                    <a:lstStyle/>
                    <a:p>
                      <a:r>
                        <a:rPr lang="en-IN"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23331A4757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Salla Mallikarjun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527198"/>
                  </a:ext>
                </a:extLst>
              </a:tr>
              <a:tr h="370840">
                <a:tc>
                  <a:txBody>
                    <a:bodyPr/>
                    <a:lstStyle/>
                    <a:p>
                      <a:r>
                        <a:rPr lang="en-IN" dirty="0">
                          <a:latin typeface="Times New Roman" panose="02020603050405020304" pitchFamily="18" charset="0"/>
                          <a:cs typeface="Times New Roman" panose="02020603050405020304" pitchFamily="18" charset="0"/>
                        </a:rPr>
                        <a:t>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23331A4710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latin typeface="Times New Roman" panose="02020603050405020304" pitchFamily="18" charset="0"/>
                          <a:cs typeface="Times New Roman" panose="02020603050405020304" pitchFamily="18" charset="0"/>
                        </a:rPr>
                        <a:t>Chinthapalli Aswith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687222"/>
                  </a:ext>
                </a:extLst>
              </a:tr>
            </a:tbl>
          </a:graphicData>
        </a:graphic>
      </p:graphicFrame>
      <p:sp>
        <p:nvSpPr>
          <p:cNvPr id="7" name="TextBox 6">
            <a:extLst>
              <a:ext uri="{FF2B5EF4-FFF2-40B4-BE49-F238E27FC236}">
                <a16:creationId xmlns:a16="http://schemas.microsoft.com/office/drawing/2014/main" id="{6B39C9FE-9A55-D878-4113-BB45C8E42B25}"/>
              </a:ext>
            </a:extLst>
          </p:cNvPr>
          <p:cNvSpPr txBox="1"/>
          <p:nvPr/>
        </p:nvSpPr>
        <p:spPr>
          <a:xfrm>
            <a:off x="666564" y="5004620"/>
            <a:ext cx="4780507" cy="646331"/>
          </a:xfrm>
          <a:prstGeom prst="rect">
            <a:avLst/>
          </a:prstGeom>
          <a:noFill/>
        </p:spPr>
        <p:txBody>
          <a:bodyPr wrap="square" rtlCol="0">
            <a:spAutoFit/>
          </a:bodyPr>
          <a:lstStyle/>
          <a:p>
            <a:r>
              <a:rPr lang="en-IN" b="1" dirty="0">
                <a:solidFill/>
                <a:latin typeface="Times New Roman" panose="02020603050405020304" pitchFamily="18" charset="0"/>
                <a:cs typeface="Times New Roman" panose="02020603050405020304" pitchFamily="18" charset="0"/>
              </a:rPr>
              <a:t>Guide Name:</a:t>
            </a:r>
          </a:p>
          <a:p>
            <a:r>
              <a:rPr lang="en-IN" b="1" dirty="0">
                <a:solidFill/>
                <a:latin typeface="Times New Roman" panose="02020603050405020304" pitchFamily="18" charset="0"/>
                <a:cs typeface="Times New Roman" panose="02020603050405020304" pitchFamily="18" charset="0"/>
              </a:rPr>
              <a:t>Designation:</a:t>
            </a:r>
          </a:p>
        </p:txBody>
      </p:sp>
      <p:sp>
        <p:nvSpPr>
          <p:cNvPr id="8" name="TextBox 7">
            <a:extLst>
              <a:ext uri="{FF2B5EF4-FFF2-40B4-BE49-F238E27FC236}">
                <a16:creationId xmlns:a16="http://schemas.microsoft.com/office/drawing/2014/main" id="{76925BDB-B544-A468-80FA-5C328DABA918}"/>
              </a:ext>
            </a:extLst>
          </p:cNvPr>
          <p:cNvSpPr txBox="1"/>
          <p:nvPr/>
        </p:nvSpPr>
        <p:spPr>
          <a:xfrm>
            <a:off x="666564" y="5770433"/>
            <a:ext cx="4128053" cy="646331"/>
          </a:xfrm>
          <a:prstGeom prst="rect">
            <a:avLst/>
          </a:prstGeom>
          <a:noFill/>
        </p:spPr>
        <p:txBody>
          <a:bodyPr wrap="none" rtlCol="0">
            <a:spAutoFit/>
          </a:bodyPr>
          <a:lstStyle/>
          <a:p>
            <a:r>
              <a:rPr lang="en-IN" b="1" dirty="0">
                <a:solidFill/>
                <a:latin typeface="Times New Roman" panose="02020603050405020304" pitchFamily="18" charset="0"/>
                <a:cs typeface="Times New Roman" panose="02020603050405020304" pitchFamily="18" charset="0"/>
              </a:rPr>
              <a:t>Project Coordinator:</a:t>
            </a:r>
            <a:endParaRPr lang="en-IN" dirty="0">
              <a:latin typeface="Times New Roman" panose="02020603050405020304" pitchFamily="18" charset="0"/>
              <a:cs typeface="Times New Roman" panose="02020603050405020304" pitchFamily="18" charset="0"/>
            </a:endParaRPr>
          </a:p>
          <a:p>
            <a:r>
              <a:rPr lang="en-IN" b="1" dirty="0">
                <a:solidFill/>
                <a:latin typeface="Times New Roman" panose="02020603050405020304" pitchFamily="18" charset="0"/>
                <a:cs typeface="Times New Roman" panose="02020603050405020304" pitchFamily="18" charset="0"/>
              </a:rPr>
              <a:t>Designation</a:t>
            </a:r>
            <a:r>
              <a:rPr lang="en-IN" dirty="0">
                <a:solidFill/>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F8E228F4-F1C6-996C-1333-E77944D0112F}"/>
              </a:ext>
            </a:extLst>
          </p:cNvPr>
          <p:cNvSpPr txBox="1"/>
          <p:nvPr/>
        </p:nvSpPr>
        <p:spPr>
          <a:xfrm>
            <a:off x="7441620" y="5767836"/>
            <a:ext cx="3856953" cy="646331"/>
          </a:xfrm>
          <a:prstGeom prst="rect">
            <a:avLst/>
          </a:prstGeom>
          <a:noFill/>
        </p:spPr>
        <p:txBody>
          <a:bodyPr wrap="none" rtlCol="0">
            <a:spAutoFit/>
          </a:bodyPr>
          <a:lstStyle/>
          <a:p>
            <a:r>
              <a:rPr lang="en-IN" b="1" dirty="0">
                <a:solidFill/>
                <a:latin typeface="Times New Roman" panose="02020603050405020304" pitchFamily="18" charset="0"/>
                <a:cs typeface="Times New Roman" panose="02020603050405020304" pitchFamily="18" charset="0"/>
              </a:rPr>
              <a:t>Head of the Department</a:t>
            </a:r>
            <a:r>
              <a:rPr lang="en-IN" dirty="0">
                <a:solidFill/>
                <a:latin typeface="Times New Roman" panose="02020603050405020304" pitchFamily="18" charset="0"/>
                <a:cs typeface="Times New Roman" panose="02020603050405020304" pitchFamily="18" charset="0"/>
              </a:rPr>
              <a:t>: Dr. V. Jyothi</a:t>
            </a:r>
          </a:p>
          <a:p>
            <a:r>
              <a:rPr lang="en-IN" b="1" dirty="0">
                <a:solidFill/>
                <a:latin typeface="Times New Roman" panose="02020603050405020304" pitchFamily="18" charset="0"/>
                <a:cs typeface="Times New Roman" panose="02020603050405020304" pitchFamily="18" charset="0"/>
              </a:rPr>
              <a:t>Designation</a:t>
            </a:r>
            <a:r>
              <a:rPr lang="en-IN" dirty="0">
                <a:solidFill/>
                <a:latin typeface="Times New Roman" panose="02020603050405020304" pitchFamily="18" charset="0"/>
                <a:cs typeface="Times New Roman" panose="02020603050405020304" pitchFamily="18" charset="0"/>
              </a:rPr>
              <a:t>: Associate Professor</a:t>
            </a:r>
          </a:p>
        </p:txBody>
      </p:sp>
      <p:pic>
        <p:nvPicPr>
          <p:cNvPr id="6" name="Picture 5">
            <a:extLst>
              <a:ext uri="{FF2B5EF4-FFF2-40B4-BE49-F238E27FC236}">
                <a16:creationId xmlns:a16="http://schemas.microsoft.com/office/drawing/2014/main" id="{E1A81387-CAA0-B664-E5E7-652103F746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pic>
        <p:nvPicPr>
          <p:cNvPr id="4" name="Picture 3">
            <a:extLst>
              <a:ext uri="{FF2B5EF4-FFF2-40B4-BE49-F238E27FC236}">
                <a16:creationId xmlns:a16="http://schemas.microsoft.com/office/drawing/2014/main" id="{58BA72FF-8109-484B-1174-0945C25ABF1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sp>
        <p:nvSpPr>
          <p:cNvPr id="10" name="TextBox 9"/>
          <p:cNvSpPr txBox="1"/>
          <p:nvPr/>
        </p:nvSpPr>
        <p:spPr>
          <a:xfrm>
            <a:off x="2730590" y="2029549"/>
            <a:ext cx="8003051" cy="338554"/>
          </a:xfrm>
          <a:prstGeom prst="rect">
            <a:avLst/>
          </a:prstGeom>
          <a:noFill/>
        </p:spPr>
        <p:txBody>
          <a:bodyPr wrap="square">
            <a:spAutoFit/>
          </a:bodyPr>
          <a:lstStyle/>
          <a:p>
            <a:r>
              <a:rPr lang="en-US" sz="1600" b="1" dirty="0"/>
              <a:t>WayCode: An Asynchronous Mobile Gateway for Autonomous Software Engineering Agents</a:t>
            </a:r>
            <a:endParaRPr sz="1500" b="1" i="1" dirty="0">
              <a:solidFill>
                <a:srgbClr val="A6A6A6"/>
              </a:solidFill>
              <a:latin typeface="Times New Roman"/>
            </a:endParaRPr>
          </a:p>
        </p:txBody>
      </p:sp>
      <p:sp>
        <p:nvSpPr>
          <p:cNvPr id="11" name="TextBox 10"/>
          <p:cNvSpPr txBox="1"/>
          <p:nvPr/>
        </p:nvSpPr>
        <p:spPr>
          <a:xfrm>
            <a:off x="2782936" y="2408284"/>
            <a:ext cx="2743200" cy="323165"/>
          </a:xfrm>
          <a:prstGeom prst="rect">
            <a:avLst/>
          </a:prstGeom>
          <a:noFill/>
        </p:spPr>
        <p:txBody>
          <a:bodyPr wrap="square">
            <a:spAutoFit/>
          </a:bodyPr>
          <a:lstStyle/>
          <a:p>
            <a:r>
              <a:rPr lang="en-US" sz="1500" b="1" i="1" dirty="0">
                <a:latin typeface="Times New Roman"/>
              </a:rPr>
              <a:t>13</a:t>
            </a:r>
            <a:endParaRPr sz="1500" b="1" i="1" dirty="0">
              <a:latin typeface="Times New Roman"/>
            </a:endParaRPr>
          </a:p>
        </p:txBody>
      </p:sp>
      <p:sp>
        <p:nvSpPr>
          <p:cNvPr id="12" name="TextBox 11"/>
          <p:cNvSpPr txBox="1"/>
          <p:nvPr/>
        </p:nvSpPr>
        <p:spPr>
          <a:xfrm>
            <a:off x="3088799" y="5002867"/>
            <a:ext cx="2892159" cy="323165"/>
          </a:xfrm>
          <a:prstGeom prst="rect">
            <a:avLst/>
          </a:prstGeom>
          <a:noFill/>
        </p:spPr>
        <p:txBody>
          <a:bodyPr wrap="square">
            <a:spAutoFit/>
          </a:bodyPr>
          <a:lstStyle/>
          <a:p>
            <a:r>
              <a:rPr lang="en-US" sz="1500" b="0" dirty="0">
                <a:latin typeface="Times New Roman"/>
              </a:rPr>
              <a:t>Mr. S. Palavalli</a:t>
            </a:r>
            <a:endParaRPr sz="1500" b="0" dirty="0">
              <a:latin typeface="Times New Roman"/>
            </a:endParaRPr>
          </a:p>
        </p:txBody>
      </p:sp>
      <p:sp>
        <p:nvSpPr>
          <p:cNvPr id="13" name="TextBox 12"/>
          <p:cNvSpPr txBox="1"/>
          <p:nvPr/>
        </p:nvSpPr>
        <p:spPr>
          <a:xfrm>
            <a:off x="3088799" y="5322907"/>
            <a:ext cx="3075039" cy="323165"/>
          </a:xfrm>
          <a:prstGeom prst="rect">
            <a:avLst/>
          </a:prstGeom>
          <a:noFill/>
        </p:spPr>
        <p:txBody>
          <a:bodyPr wrap="square">
            <a:spAutoFit/>
          </a:bodyPr>
          <a:lstStyle/>
          <a:p>
            <a:r>
              <a:rPr lang="en-US" sz="1500" b="0" dirty="0">
                <a:latin typeface="Times New Roman"/>
              </a:rPr>
              <a:t>Assistant Professor</a:t>
            </a:r>
            <a:endParaRPr sz="1500" b="0" dirty="0">
              <a:latin typeface="Times New Roman"/>
            </a:endParaRPr>
          </a:p>
        </p:txBody>
      </p:sp>
      <p:sp>
        <p:nvSpPr>
          <p:cNvPr id="14" name="TextBox 13"/>
          <p:cNvSpPr txBox="1"/>
          <p:nvPr/>
        </p:nvSpPr>
        <p:spPr>
          <a:xfrm>
            <a:off x="3088799" y="5770963"/>
            <a:ext cx="3075039" cy="323165"/>
          </a:xfrm>
          <a:prstGeom prst="rect">
            <a:avLst/>
          </a:prstGeom>
          <a:noFill/>
        </p:spPr>
        <p:txBody>
          <a:bodyPr wrap="square">
            <a:spAutoFit/>
          </a:bodyPr>
          <a:lstStyle/>
          <a:p>
            <a:r>
              <a:rPr lang="en-US" sz="1500" b="0" dirty="0">
                <a:latin typeface="Times New Roman"/>
              </a:rPr>
              <a:t>Dr. Y. Home Prasanna Raju</a:t>
            </a:r>
            <a:endParaRPr sz="1500" b="0" dirty="0">
              <a:latin typeface="Times New Roman"/>
            </a:endParaRPr>
          </a:p>
        </p:txBody>
      </p:sp>
      <p:sp>
        <p:nvSpPr>
          <p:cNvPr id="15" name="TextBox 14"/>
          <p:cNvSpPr txBox="1"/>
          <p:nvPr/>
        </p:nvSpPr>
        <p:spPr>
          <a:xfrm>
            <a:off x="3088799" y="6091003"/>
            <a:ext cx="3166479" cy="323165"/>
          </a:xfrm>
          <a:prstGeom prst="rect">
            <a:avLst/>
          </a:prstGeom>
          <a:noFill/>
        </p:spPr>
        <p:txBody>
          <a:bodyPr wrap="square">
            <a:spAutoFit/>
          </a:bodyPr>
          <a:lstStyle/>
          <a:p>
            <a:r>
              <a:rPr lang="en-US" sz="1500" b="0" dirty="0">
                <a:latin typeface="Times New Roman"/>
              </a:rPr>
              <a:t>Associate Professor</a:t>
            </a:r>
            <a:endParaRPr sz="1500" b="0" dirty="0">
              <a:latin typeface="Times New Roman"/>
            </a:endParaRPr>
          </a:p>
        </p:txBody>
      </p:sp>
    </p:spTree>
    <p:extLst>
      <p:ext uri="{BB962C8B-B14F-4D97-AF65-F5344CB8AC3E}">
        <p14:creationId xmlns:p14="http://schemas.microsoft.com/office/powerpoint/2010/main" val="7590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20921-4932-359B-99DF-4AA4E8AA81E7}"/>
              </a:ext>
            </a:extLst>
          </p:cNvPr>
          <p:cNvSpPr>
            <a:spLocks noGrp="1"/>
          </p:cNvSpPr>
          <p:nvPr>
            <p:ph type="title"/>
          </p:nvPr>
        </p:nvSpPr>
        <p:spPr/>
        <p:txBody>
          <a:bodyPr/>
          <a:lstStyle/>
          <a:p>
            <a:r>
              <a:rPr lang="en-IN" b="1" dirty="0">
                <a:solidFill/>
                <a:latin typeface="Times New Roman" panose="02020603050405020304" pitchFamily="18" charset="0"/>
                <a:cs typeface="Times New Roman" panose="02020603050405020304" pitchFamily="18" charset="0"/>
              </a:rPr>
              <a:t>                              Abstract</a:t>
            </a:r>
          </a:p>
        </p:txBody>
      </p:sp>
      <p:sp>
        <p:nvSpPr>
          <p:cNvPr id="3" name="Content Placeholder 2">
            <a:extLst>
              <a:ext uri="{FF2B5EF4-FFF2-40B4-BE49-F238E27FC236}">
                <a16:creationId xmlns:a16="http://schemas.microsoft.com/office/drawing/2014/main" id="{B2F48609-A98A-9DB7-F9E6-DD71B73CA3B1}"/>
              </a:ext>
            </a:extLst>
          </p:cNvPr>
          <p:cNvSpPr>
            <a:spLocks noGrp="1"/>
          </p:cNvSpPr>
          <p:nvPr>
            <p:ph idx="1"/>
          </p:nvPr>
        </p:nvSpPr>
        <p:spPr/>
        <p:txBody>
          <a:bodyPr wrap="square" lIns="137160" tIns="91440" rIns="137160" bIns="91440">
            <a:normAutofit/>
          </a:bodyPr>
          <a:lstStyle/>
          <a:p>
            <a:pPr marL="0" indent="0" algn="just">
              <a:buNone/>
            </a:pPr>
            <a:r>
              <a:rPr lang="en-US" sz="2000" dirty="0"/>
              <a:t>Traditional remote development tools require developers to interact with full desktop IDE layouts on mobile screens, leading to high typing strain, interface clutter, and build failures when network connectivity fluctuates during travel. This project presents </a:t>
            </a:r>
            <a:r>
              <a:rPr lang="en-US" sz="2000" b="1" dirty="0"/>
              <a:t>WayCode</a:t>
            </a:r>
            <a:r>
              <a:rPr lang="en-US" sz="2000" dirty="0"/>
              <a:t>, an asynchronous, mobile-first gateway for automated software engineering workflows. The system features a responsive Next.js Progressive Web Application (PWA) authenticated via Supabase GitHub OAuth 2.0. Instead of editing code files manually, the developer submits high-level functional intents from a smartphone. An asynchronous Redis task queue on a dedicated Linux virtual private server (VPS) decouples request ingestion from task execution. A background worker daemon operates in a sandboxed repository environment using the Gemini API, automatically modifying codebase files, running local syntax checks, and committing changes. Verified commits trigger continuous deployment pipelines on Vercel, while real-time execution status is streamed to the mobile client via Supabase Realtime and out-of-band updates are delivered through the WhatsApp Cloud API. This architecture eliminates viewport constraints and ensures resilient, unattended software development on mobile devices.</a:t>
            </a:r>
          </a:p>
        </p:txBody>
      </p:sp>
      <p:sp>
        <p:nvSpPr>
          <p:cNvPr id="4" name="Date Placeholder 3">
            <a:extLst>
              <a:ext uri="{FF2B5EF4-FFF2-40B4-BE49-F238E27FC236}">
                <a16:creationId xmlns:a16="http://schemas.microsoft.com/office/drawing/2014/main" id="{C655E744-4F16-AB16-DDA3-CC5C491B31D8}"/>
              </a:ext>
            </a:extLst>
          </p:cNvPr>
          <p:cNvSpPr>
            <a:spLocks noGrp="1"/>
          </p:cNvSpPr>
          <p:nvPr>
            <p:ph type="dt" sz="half" idx="10"/>
          </p:nvPr>
        </p:nvSpPr>
        <p:spPr/>
        <p:txBody>
          <a:bodyPr/>
          <a:lstStyle/>
          <a:p>
            <a:fld id="{CB7F5E61-5772-4079-8825-39EBA9BFA1CF}" type="datetime1">
              <a:rPr lang="en-IN" smtClean="0"/>
              <a:t>17-08-2026</a:t>
            </a:fld>
            <a:endParaRPr lang="en-IN"/>
          </a:p>
        </p:txBody>
      </p:sp>
      <p:sp>
        <p:nvSpPr>
          <p:cNvPr id="6" name="Slide Number Placeholder 5">
            <a:extLst>
              <a:ext uri="{FF2B5EF4-FFF2-40B4-BE49-F238E27FC236}">
                <a16:creationId xmlns:a16="http://schemas.microsoft.com/office/drawing/2014/main" id="{3B85AC38-09FE-7208-D128-A2197A2CA3B9}"/>
              </a:ext>
            </a:extLst>
          </p:cNvPr>
          <p:cNvSpPr>
            <a:spLocks noGrp="1"/>
          </p:cNvSpPr>
          <p:nvPr>
            <p:ph type="sldNum" sz="quarter" idx="12"/>
          </p:nvPr>
        </p:nvSpPr>
        <p:spPr/>
        <p:txBody>
          <a:bodyPr/>
          <a:lstStyle/>
          <a:p>
            <a:fld id="{47526DCF-DF60-4378-BFCC-D3A207344837}" type="slidenum">
              <a:rPr lang="en-IN" smtClean="0"/>
              <a:t>2</a:t>
            </a:fld>
            <a:endParaRPr lang="en-IN"/>
          </a:p>
        </p:txBody>
      </p:sp>
      <p:pic>
        <p:nvPicPr>
          <p:cNvPr id="8" name="Picture 7">
            <a:extLst>
              <a:ext uri="{FF2B5EF4-FFF2-40B4-BE49-F238E27FC236}">
                <a16:creationId xmlns:a16="http://schemas.microsoft.com/office/drawing/2014/main" id="{E0ADAE78-B2FC-89B0-60B5-352686C8C4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0" name="Picture 9">
            <a:extLst>
              <a:ext uri="{FF2B5EF4-FFF2-40B4-BE49-F238E27FC236}">
                <a16:creationId xmlns:a16="http://schemas.microsoft.com/office/drawing/2014/main" id="{90AB784D-EE2D-F817-A5EC-9F866CC9619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460425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A163-6249-C153-BF1D-0EAD5B5D0C7C}"/>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Introduction</a:t>
            </a:r>
          </a:p>
        </p:txBody>
      </p:sp>
      <p:sp>
        <p:nvSpPr>
          <p:cNvPr id="4" name="Date Placeholder 3">
            <a:extLst>
              <a:ext uri="{FF2B5EF4-FFF2-40B4-BE49-F238E27FC236}">
                <a16:creationId xmlns:a16="http://schemas.microsoft.com/office/drawing/2014/main" id="{8830161D-19CD-E770-288B-8FB741A16950}"/>
              </a:ext>
            </a:extLst>
          </p:cNvPr>
          <p:cNvSpPr>
            <a:spLocks noGrp="1"/>
          </p:cNvSpPr>
          <p:nvPr>
            <p:ph type="dt" sz="half" idx="10"/>
          </p:nvPr>
        </p:nvSpPr>
        <p:spPr/>
        <p:txBody>
          <a:bodyPr/>
          <a:lstStyle/>
          <a:p>
            <a:fld id="{453DE79E-F7C5-4F8F-BF50-38AAD16EF2B4}" type="datetime1">
              <a:rPr lang="en-IN" smtClean="0"/>
              <a:t>17-08-2026</a:t>
            </a:fld>
            <a:endParaRPr lang="en-IN"/>
          </a:p>
        </p:txBody>
      </p:sp>
      <p:sp>
        <p:nvSpPr>
          <p:cNvPr id="6" name="Slide Number Placeholder 5">
            <a:extLst>
              <a:ext uri="{FF2B5EF4-FFF2-40B4-BE49-F238E27FC236}">
                <a16:creationId xmlns:a16="http://schemas.microsoft.com/office/drawing/2014/main" id="{D00027E8-23A5-F915-61C5-AC94CD2CCAA1}"/>
              </a:ext>
            </a:extLst>
          </p:cNvPr>
          <p:cNvSpPr>
            <a:spLocks noGrp="1"/>
          </p:cNvSpPr>
          <p:nvPr>
            <p:ph type="sldNum" sz="quarter" idx="12"/>
          </p:nvPr>
        </p:nvSpPr>
        <p:spPr/>
        <p:txBody>
          <a:bodyPr/>
          <a:lstStyle/>
          <a:p>
            <a:fld id="{47526DCF-DF60-4378-BFCC-D3A207344837}" type="slidenum">
              <a:rPr lang="en-IN" smtClean="0"/>
              <a:t>3</a:t>
            </a:fld>
            <a:endParaRPr lang="en-IN"/>
          </a:p>
        </p:txBody>
      </p:sp>
      <p:pic>
        <p:nvPicPr>
          <p:cNvPr id="9" name="Picture 8">
            <a:extLst>
              <a:ext uri="{FF2B5EF4-FFF2-40B4-BE49-F238E27FC236}">
                <a16:creationId xmlns:a16="http://schemas.microsoft.com/office/drawing/2014/main" id="{111DC106-BF8B-2573-943E-5E01F5428C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B8EEEDFF-6D4E-D470-A42F-326B73480DA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18" name="Rectangle 11">
            <a:extLst>
              <a:ext uri="{FF2B5EF4-FFF2-40B4-BE49-F238E27FC236}">
                <a16:creationId xmlns:a16="http://schemas.microsoft.com/office/drawing/2014/main" id="{F8FAD0B7-5853-581F-3EF1-85C695579025}"/>
              </a:ext>
            </a:extLst>
          </p:cNvPr>
          <p:cNvSpPr>
            <a:spLocks noGrp="1" noChangeArrowheads="1"/>
          </p:cNvSpPr>
          <p:nvPr>
            <p:ph idx="1"/>
          </p:nvPr>
        </p:nvSpPr>
        <p:spPr bwMode="auto">
          <a:xfrm>
            <a:off x="505272" y="1476892"/>
            <a:ext cx="11313101"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Domain &amp; Context: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Rapid expansion of automated coding frameworks and cloud-native software engineering.</a:t>
            </a: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Growing requirement for remote engineering workflows and fast production hotfixes during   transit.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Existing Situation: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Developers rely on desktop IDEs or cloud workspaces (e.g., Codespaces, remote terminals).</a:t>
            </a: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Stationary desktop agents require constant active sessions and large displays.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Motivation for WayCode: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Eliminate desktop viewport dependency for routine feature builds and bug fixes.</a:t>
            </a: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Offload resource-heavy compilation from mobile devices to persistent cloud infrastructure.</a:t>
            </a:r>
          </a:p>
          <a:p>
            <a:pPr marL="914400" lvl="1" indent="-457200" eaLnBrk="0" fontAlgn="base" hangingPunct="0">
              <a:lnSpc>
                <a:spcPct val="100000"/>
              </a:lnSpc>
              <a:spcBef>
                <a:spcPct val="0"/>
              </a:spcBef>
              <a:spcAft>
                <a:spcPct val="0"/>
              </a:spcAft>
              <a:buFont typeface="+mj-lt"/>
              <a:buAutoNum type="arabicParenR"/>
            </a:pPr>
            <a:r>
              <a:rPr kumimoji="0" lang="en-US" altLang="en-US" sz="2000" b="0" i="0" u="none" strike="noStrike" cap="none" normalizeH="0" baseline="0" dirty="0">
                <a:ln>
                  <a:noFill/>
                </a:ln>
                <a:solidFill>
                  <a:schemeClr val="tx1"/>
                </a:solidFill>
                <a:effectLst/>
                <a:latin typeface="Arial" panose="020B0604020202020204" pitchFamily="34" charset="0"/>
              </a:rPr>
              <a:t>Provide reliable, unattended background execution that survives intermittent mobile networks.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244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C585-35C4-47CC-B985-7BF6589C8D6D}"/>
              </a:ext>
            </a:extLst>
          </p:cNvPr>
          <p:cNvSpPr>
            <a:spLocks noGrp="1"/>
          </p:cNvSpPr>
          <p:nvPr>
            <p:ph type="title"/>
          </p:nvPr>
        </p:nvSpPr>
        <p:spPr>
          <a:xfrm>
            <a:off x="838200" y="254467"/>
            <a:ext cx="10515600" cy="1050719"/>
          </a:xfrm>
        </p:spPr>
        <p:txBody>
          <a:bodyPr/>
          <a:lstStyle/>
          <a:p>
            <a:pPr algn="ctr"/>
            <a:r>
              <a:rPr lang="en-IN" b="1" dirty="0">
                <a:solidFill/>
                <a:latin typeface="Times New Roman" panose="02020603050405020304" pitchFamily="18" charset="0"/>
                <a:cs typeface="Times New Roman" panose="02020603050405020304" pitchFamily="18" charset="0"/>
              </a:rPr>
              <a:t>Literature Review/ Background Study</a:t>
            </a:r>
            <a:endParaRPr lang="en-IN" dirty="0"/>
          </a:p>
        </p:txBody>
      </p:sp>
      <p:graphicFrame>
        <p:nvGraphicFramePr>
          <p:cNvPr id="6" name="Content Placeholder 5">
            <a:extLst>
              <a:ext uri="{FF2B5EF4-FFF2-40B4-BE49-F238E27FC236}">
                <a16:creationId xmlns:a16="http://schemas.microsoft.com/office/drawing/2014/main" id="{4A26E493-557B-AAE6-2906-1177EEDAB630}"/>
              </a:ext>
            </a:extLst>
          </p:cNvPr>
          <p:cNvGraphicFramePr>
            <a:graphicFrameLocks noGrp="1"/>
          </p:cNvGraphicFramePr>
          <p:nvPr>
            <p:ph idx="1"/>
            <p:extLst>
              <p:ext uri="{D42A27DB-BD31-4B8C-83A1-F6EECF244321}">
                <p14:modId xmlns:p14="http://schemas.microsoft.com/office/powerpoint/2010/main" val="3062139049"/>
              </p:ext>
            </p:extLst>
          </p:nvPr>
        </p:nvGraphicFramePr>
        <p:xfrm>
          <a:off x="505272" y="1305186"/>
          <a:ext cx="11145954" cy="5029127"/>
        </p:xfrm>
        <a:graphic>
          <a:graphicData uri="http://schemas.openxmlformats.org/drawingml/2006/table">
            <a:tbl>
              <a:tblPr firstRow="1" bandRow="1">
                <a:tableStyleId>{5C22544A-7EE6-4342-B048-85BDC9FD1C3A}</a:tableStyleId>
              </a:tblPr>
              <a:tblGrid>
                <a:gridCol w="2188163">
                  <a:extLst>
                    <a:ext uri="{9D8B030D-6E8A-4147-A177-3AD203B41FA5}">
                      <a16:colId xmlns:a16="http://schemas.microsoft.com/office/drawing/2014/main" val="2124734209"/>
                    </a:ext>
                  </a:extLst>
                </a:gridCol>
                <a:gridCol w="2515353">
                  <a:extLst>
                    <a:ext uri="{9D8B030D-6E8A-4147-A177-3AD203B41FA5}">
                      <a16:colId xmlns:a16="http://schemas.microsoft.com/office/drawing/2014/main" val="2391102821"/>
                    </a:ext>
                  </a:extLst>
                </a:gridCol>
                <a:gridCol w="3423935">
                  <a:extLst>
                    <a:ext uri="{9D8B030D-6E8A-4147-A177-3AD203B41FA5}">
                      <a16:colId xmlns:a16="http://schemas.microsoft.com/office/drawing/2014/main" val="1894831089"/>
                    </a:ext>
                  </a:extLst>
                </a:gridCol>
                <a:gridCol w="3018503">
                  <a:extLst>
                    <a:ext uri="{9D8B030D-6E8A-4147-A177-3AD203B41FA5}">
                      <a16:colId xmlns:a16="http://schemas.microsoft.com/office/drawing/2014/main" val="3606298643"/>
                    </a:ext>
                  </a:extLst>
                </a:gridCol>
              </a:tblGrid>
              <a:tr h="395795">
                <a:tc>
                  <a:txBody>
                    <a:bodyPr/>
                    <a:lstStyle/>
                    <a:p>
                      <a:r>
                        <a:rPr lang="en-US" sz="1600" dirty="0"/>
                        <a:t>Author &amp; Year</a:t>
                      </a:r>
                    </a:p>
                  </a:txBody>
                  <a:tcPr/>
                </a:tc>
                <a:tc>
                  <a:txBody>
                    <a:bodyPr/>
                    <a:lstStyle/>
                    <a:p>
                      <a:r>
                        <a:rPr lang="en-US" sz="1600" dirty="0"/>
                        <a:t>Method / Technology Used</a:t>
                      </a:r>
                    </a:p>
                  </a:txBody>
                  <a:tcPr/>
                </a:tc>
                <a:tc>
                  <a:txBody>
                    <a:bodyPr/>
                    <a:lstStyle/>
                    <a:p>
                      <a:r>
                        <a:rPr lang="en-US" sz="1600" dirty="0"/>
                        <a:t>Key Finding</a:t>
                      </a:r>
                    </a:p>
                  </a:txBody>
                  <a:tcPr/>
                </a:tc>
                <a:tc>
                  <a:txBody>
                    <a:bodyPr/>
                    <a:lstStyle/>
                    <a:p>
                      <a:r>
                        <a:rPr lang="en-US" sz="1600" dirty="0"/>
                        <a:t>Limitation / Research Gap</a:t>
                      </a:r>
                    </a:p>
                  </a:txBody>
                  <a:tcPr/>
                </a:tc>
                <a:extLst>
                  <a:ext uri="{0D108BD9-81ED-4DB2-BD59-A6C34878D82A}">
                    <a16:rowId xmlns:a16="http://schemas.microsoft.com/office/drawing/2014/main" val="120679170"/>
                  </a:ext>
                </a:extLst>
              </a:tr>
              <a:tr h="919864">
                <a:tc>
                  <a:txBody>
                    <a:bodyPr/>
                    <a:lstStyle/>
                    <a:p>
                      <a:r>
                        <a:rPr lang="en-US" sz="1600" dirty="0"/>
                        <a:t>Yang et al. (2024)</a:t>
                      </a:r>
                    </a:p>
                  </a:txBody>
                  <a:tcPr/>
                </a:tc>
                <a:tc>
                  <a:txBody>
                    <a:bodyPr/>
                    <a:lstStyle/>
                    <a:p>
                      <a:r>
                        <a:rPr lang="en-US" sz="1600" dirty="0"/>
                        <a:t>SWE-agent / Agent-Computer Interfaces (ACIs) </a:t>
                      </a:r>
                    </a:p>
                  </a:txBody>
                  <a:tcPr/>
                </a:tc>
                <a:tc>
                  <a:txBody>
                    <a:bodyPr/>
                    <a:lstStyle/>
                    <a:p>
                      <a:r>
                        <a:rPr lang="en-US" sz="1600" dirty="0"/>
                        <a:t>Specialized text tools enable language models to navigate and edit code repositories effectively. </a:t>
                      </a:r>
                    </a:p>
                  </a:txBody>
                  <a:tcPr/>
                </a:tc>
                <a:tc>
                  <a:txBody>
                    <a:bodyPr/>
                    <a:lstStyle/>
                    <a:p>
                      <a:r>
                        <a:rPr lang="en-US" sz="1600" dirty="0"/>
                        <a:t>Confined to desktop command-line environments; no mobile architecture. </a:t>
                      </a:r>
                    </a:p>
                  </a:txBody>
                  <a:tcPr/>
                </a:tc>
                <a:extLst>
                  <a:ext uri="{0D108BD9-81ED-4DB2-BD59-A6C34878D82A}">
                    <a16:rowId xmlns:a16="http://schemas.microsoft.com/office/drawing/2014/main" val="2317027681"/>
                  </a:ext>
                </a:extLst>
              </a:tr>
              <a:tr h="1231847">
                <a:tc>
                  <a:txBody>
                    <a:bodyPr/>
                    <a:lstStyle/>
                    <a:p>
                      <a:r>
                        <a:rPr lang="en-US" sz="1600" dirty="0"/>
                        <a:t>Jimenez et al. (2024)</a:t>
                      </a:r>
                    </a:p>
                  </a:txBody>
                  <a:tcPr/>
                </a:tc>
                <a:tc>
                  <a:txBody>
                    <a:bodyPr/>
                    <a:lstStyle/>
                    <a:p>
                      <a:r>
                        <a:rPr lang="en-US" sz="1600" dirty="0"/>
                        <a:t>SWE-bench / Multi-file evaluation</a:t>
                      </a:r>
                    </a:p>
                  </a:txBody>
                  <a:tcPr/>
                </a:tc>
                <a:tc>
                  <a:txBody>
                    <a:bodyPr/>
                    <a:lstStyle/>
                    <a:p>
                      <a:r>
                        <a:rPr lang="en-US" sz="1600" dirty="0"/>
                        <a:t>Evaluated real-world issue resolution across multi-file repositories in sandboxed runtimes.</a:t>
                      </a:r>
                    </a:p>
                  </a:txBody>
                  <a:tcPr/>
                </a:tc>
                <a:tc>
                  <a:txBody>
                    <a:bodyPr/>
                    <a:lstStyle/>
                    <a:p>
                      <a:r>
                        <a:rPr lang="en-US" sz="1600" dirty="0"/>
                        <a:t>Benchmarks issue resolution without automated production CI/CD or remote webhook triggers.</a:t>
                      </a:r>
                    </a:p>
                  </a:txBody>
                  <a:tcPr/>
                </a:tc>
                <a:extLst>
                  <a:ext uri="{0D108BD9-81ED-4DB2-BD59-A6C34878D82A}">
                    <a16:rowId xmlns:a16="http://schemas.microsoft.com/office/drawing/2014/main" val="3813449572"/>
                  </a:ext>
                </a:extLst>
              </a:tr>
              <a:tr h="827207">
                <a:tc>
                  <a:txBody>
                    <a:bodyPr/>
                    <a:lstStyle/>
                    <a:p>
                      <a:r>
                        <a:rPr lang="en-US" sz="1600" dirty="0"/>
                        <a:t>Hong et al. (2024)</a:t>
                      </a:r>
                    </a:p>
                  </a:txBody>
                  <a:tcPr/>
                </a:tc>
                <a:tc>
                  <a:txBody>
                    <a:bodyPr/>
                    <a:lstStyle/>
                    <a:p>
                      <a:r>
                        <a:rPr lang="en-US" sz="1600" dirty="0"/>
                        <a:t>MetaGPT / Multi-agent SOPs</a:t>
                      </a:r>
                    </a:p>
                  </a:txBody>
                  <a:tcPr/>
                </a:tc>
                <a:tc>
                  <a:txBody>
                    <a:bodyPr/>
                    <a:lstStyle/>
                    <a:p>
                      <a:r>
                        <a:rPr lang="en-US" sz="1600" dirty="0"/>
                        <a:t>Standard Operating Procedures (SOPs) improve multi-file code consistency and prevent hallucination.</a:t>
                      </a:r>
                    </a:p>
                  </a:txBody>
                  <a:tcPr/>
                </a:tc>
                <a:tc>
                  <a:txBody>
                    <a:bodyPr/>
                    <a:lstStyle/>
                    <a:p>
                      <a:r>
                        <a:rPr lang="en-US" sz="1600" dirty="0"/>
                        <a:t>High token overhead; requires continuous workstation execution sessions.</a:t>
                      </a:r>
                    </a:p>
                  </a:txBody>
                  <a:tcPr/>
                </a:tc>
                <a:extLst>
                  <a:ext uri="{0D108BD9-81ED-4DB2-BD59-A6C34878D82A}">
                    <a16:rowId xmlns:a16="http://schemas.microsoft.com/office/drawing/2014/main" val="317022912"/>
                  </a:ext>
                </a:extLst>
              </a:tr>
              <a:tr h="827207">
                <a:tc>
                  <a:txBody>
                    <a:bodyPr/>
                    <a:lstStyle/>
                    <a:p>
                      <a:r>
                        <a:rPr lang="en-US" sz="1600" dirty="0"/>
                        <a:t>Qian et al. (2024)</a:t>
                      </a:r>
                    </a:p>
                  </a:txBody>
                  <a:tcPr/>
                </a:tc>
                <a:tc>
                  <a:txBody>
                    <a:bodyPr/>
                    <a:lstStyle/>
                    <a:p>
                      <a:r>
                        <a:rPr lang="en-US" sz="1600" dirty="0"/>
                        <a:t>ChatDev / Communicative Software Agents</a:t>
                      </a:r>
                    </a:p>
                  </a:txBody>
                  <a:tcPr/>
                </a:tc>
                <a:tc>
                  <a:txBody>
                    <a:bodyPr/>
                    <a:lstStyle/>
                    <a:p>
                      <a:r>
                        <a:rPr lang="en-US" sz="1600" dirty="0"/>
                        <a:t>Multi-agent communication can drive full-cycle software development from natural language.</a:t>
                      </a:r>
                    </a:p>
                  </a:txBody>
                  <a:tcPr/>
                </a:tc>
                <a:tc>
                  <a:txBody>
                    <a:bodyPr/>
                    <a:lstStyle/>
                    <a:p>
                      <a:r>
                        <a:rPr lang="en-US" sz="1600" dirty="0"/>
                        <a:t>Assumes synchronous execution on stationary systems without network fault tolerance.</a:t>
                      </a:r>
                    </a:p>
                  </a:txBody>
                  <a:tcPr/>
                </a:tc>
                <a:extLst>
                  <a:ext uri="{0D108BD9-81ED-4DB2-BD59-A6C34878D82A}">
                    <a16:rowId xmlns:a16="http://schemas.microsoft.com/office/drawing/2014/main" val="235647171"/>
                  </a:ext>
                </a:extLst>
              </a:tr>
              <a:tr h="827207">
                <a:tc>
                  <a:txBody>
                    <a:bodyPr/>
                    <a:lstStyle/>
                    <a:p>
                      <a:r>
                        <a:rPr lang="en-US" sz="1600" dirty="0"/>
                        <a:t>Bhoopchand et al. (2024)</a:t>
                      </a:r>
                    </a:p>
                  </a:txBody>
                  <a:tcPr/>
                </a:tc>
                <a:tc>
                  <a:txBody>
                    <a:bodyPr/>
                    <a:lstStyle/>
                    <a:p>
                      <a:r>
                        <a:rPr lang="en-US" sz="1600" dirty="0"/>
                        <a:t>SERA / Soft-Verified Repository Agents</a:t>
                      </a:r>
                    </a:p>
                  </a:txBody>
                  <a:tcPr/>
                </a:tc>
                <a:tc>
                  <a:txBody>
                    <a:bodyPr/>
                    <a:lstStyle/>
                    <a:p>
                      <a:r>
                        <a:rPr lang="en-US" sz="1600" dirty="0"/>
                        <a:t>Checkpointing and verification loops improve agent-driven code patch reliability before commits.</a:t>
                      </a:r>
                    </a:p>
                  </a:txBody>
                  <a:tcPr/>
                </a:tc>
                <a:tc>
                  <a:txBody>
                    <a:bodyPr/>
                    <a:lstStyle/>
                    <a:p>
                      <a:r>
                        <a:rPr lang="en-US" sz="1600" dirty="0"/>
                        <a:t>Checkpointing and verification loops improve agent-driven code patch reliability before commits.</a:t>
                      </a:r>
                    </a:p>
                  </a:txBody>
                  <a:tcPr/>
                </a:tc>
                <a:extLst>
                  <a:ext uri="{0D108BD9-81ED-4DB2-BD59-A6C34878D82A}">
                    <a16:rowId xmlns:a16="http://schemas.microsoft.com/office/drawing/2014/main" val="2909387606"/>
                  </a:ext>
                </a:extLst>
              </a:tr>
            </a:tbl>
          </a:graphicData>
        </a:graphic>
      </p:graphicFrame>
      <p:sp>
        <p:nvSpPr>
          <p:cNvPr id="4" name="Date Placeholder 3">
            <a:extLst>
              <a:ext uri="{FF2B5EF4-FFF2-40B4-BE49-F238E27FC236}">
                <a16:creationId xmlns:a16="http://schemas.microsoft.com/office/drawing/2014/main" id="{5D8DC1DC-2C57-B241-6E11-D971377E5B09}"/>
              </a:ext>
            </a:extLst>
          </p:cNvPr>
          <p:cNvSpPr>
            <a:spLocks noGrp="1"/>
          </p:cNvSpPr>
          <p:nvPr>
            <p:ph type="dt" sz="half" idx="10"/>
          </p:nvPr>
        </p:nvSpPr>
        <p:spPr/>
        <p:txBody>
          <a:bodyPr/>
          <a:lstStyle/>
          <a:p>
            <a:fld id="{38EBAF16-2FEC-4D95-B96D-9358BC438D31}" type="datetime1">
              <a:rPr lang="en-IN" smtClean="0"/>
              <a:t>17-08-2026</a:t>
            </a:fld>
            <a:endParaRPr lang="en-IN"/>
          </a:p>
        </p:txBody>
      </p:sp>
      <p:sp>
        <p:nvSpPr>
          <p:cNvPr id="5" name="Slide Number Placeholder 4">
            <a:extLst>
              <a:ext uri="{FF2B5EF4-FFF2-40B4-BE49-F238E27FC236}">
                <a16:creationId xmlns:a16="http://schemas.microsoft.com/office/drawing/2014/main" id="{C13844E8-D4BD-27D6-A7ED-9F913781E01C}"/>
              </a:ext>
            </a:extLst>
          </p:cNvPr>
          <p:cNvSpPr>
            <a:spLocks noGrp="1"/>
          </p:cNvSpPr>
          <p:nvPr>
            <p:ph type="sldNum" sz="quarter" idx="12"/>
          </p:nvPr>
        </p:nvSpPr>
        <p:spPr/>
        <p:txBody>
          <a:bodyPr/>
          <a:lstStyle/>
          <a:p>
            <a:fld id="{47526DCF-DF60-4378-BFCC-D3A207344837}" type="slidenum">
              <a:rPr lang="en-IN" smtClean="0"/>
              <a:t>4</a:t>
            </a:fld>
            <a:endParaRPr lang="en-IN"/>
          </a:p>
        </p:txBody>
      </p:sp>
      <p:pic>
        <p:nvPicPr>
          <p:cNvPr id="8" name="Picture 7">
            <a:extLst>
              <a:ext uri="{FF2B5EF4-FFF2-40B4-BE49-F238E27FC236}">
                <a16:creationId xmlns:a16="http://schemas.microsoft.com/office/drawing/2014/main" id="{5847C611-0770-5FB1-D546-0006DD6385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0" name="Picture 9">
            <a:extLst>
              <a:ext uri="{FF2B5EF4-FFF2-40B4-BE49-F238E27FC236}">
                <a16:creationId xmlns:a16="http://schemas.microsoft.com/office/drawing/2014/main" id="{90E5D5E9-DBC0-61BA-0C5D-A5BDEF768A5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146945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F1CE-E15D-F045-5F27-8386F7885701}"/>
              </a:ext>
            </a:extLst>
          </p:cNvPr>
          <p:cNvSpPr>
            <a:spLocks noGrp="1"/>
          </p:cNvSpPr>
          <p:nvPr>
            <p:ph type="title"/>
          </p:nvPr>
        </p:nvSpPr>
        <p:spPr>
          <a:xfrm>
            <a:off x="838200" y="365125"/>
            <a:ext cx="10515600" cy="967519"/>
          </a:xfrm>
        </p:spPr>
        <p:txBody>
          <a:bodyPr/>
          <a:lstStyle/>
          <a:p>
            <a:pPr algn="ctr"/>
            <a:r>
              <a:rPr lang="en-IN" b="1" dirty="0">
                <a:solidFill/>
                <a:latin typeface="Times New Roman" panose="02020603050405020304" pitchFamily="18" charset="0"/>
                <a:cs typeface="Times New Roman" panose="02020603050405020304" pitchFamily="18" charset="0"/>
              </a:rPr>
              <a:t>Problem Statement </a:t>
            </a:r>
          </a:p>
        </p:txBody>
      </p:sp>
      <p:sp>
        <p:nvSpPr>
          <p:cNvPr id="4" name="Date Placeholder 3">
            <a:extLst>
              <a:ext uri="{FF2B5EF4-FFF2-40B4-BE49-F238E27FC236}">
                <a16:creationId xmlns:a16="http://schemas.microsoft.com/office/drawing/2014/main" id="{1C5BFB55-6FFB-24BF-FC26-16756F9C7AB1}"/>
              </a:ext>
            </a:extLst>
          </p:cNvPr>
          <p:cNvSpPr>
            <a:spLocks noGrp="1"/>
          </p:cNvSpPr>
          <p:nvPr>
            <p:ph type="dt" sz="half" idx="10"/>
          </p:nvPr>
        </p:nvSpPr>
        <p:spPr/>
        <p:txBody>
          <a:bodyPr/>
          <a:lstStyle/>
          <a:p>
            <a:fld id="{73847744-60C0-45E3-95C7-29DDC136FFF3}" type="datetime1">
              <a:rPr lang="en-IN" smtClean="0"/>
              <a:t>17-08-2026</a:t>
            </a:fld>
            <a:endParaRPr lang="en-IN"/>
          </a:p>
        </p:txBody>
      </p:sp>
      <p:sp>
        <p:nvSpPr>
          <p:cNvPr id="6" name="Slide Number Placeholder 5">
            <a:extLst>
              <a:ext uri="{FF2B5EF4-FFF2-40B4-BE49-F238E27FC236}">
                <a16:creationId xmlns:a16="http://schemas.microsoft.com/office/drawing/2014/main" id="{5A366203-58FD-8CDB-1D75-2688B4B3CF34}"/>
              </a:ext>
            </a:extLst>
          </p:cNvPr>
          <p:cNvSpPr>
            <a:spLocks noGrp="1"/>
          </p:cNvSpPr>
          <p:nvPr>
            <p:ph type="sldNum" sz="quarter" idx="12"/>
          </p:nvPr>
        </p:nvSpPr>
        <p:spPr/>
        <p:txBody>
          <a:bodyPr/>
          <a:lstStyle/>
          <a:p>
            <a:fld id="{47526DCF-DF60-4378-BFCC-D3A207344837}" type="slidenum">
              <a:rPr lang="en-IN" smtClean="0"/>
              <a:t>5</a:t>
            </a:fld>
            <a:endParaRPr lang="en-IN"/>
          </a:p>
        </p:txBody>
      </p:sp>
      <p:pic>
        <p:nvPicPr>
          <p:cNvPr id="9" name="Picture 8">
            <a:extLst>
              <a:ext uri="{FF2B5EF4-FFF2-40B4-BE49-F238E27FC236}">
                <a16:creationId xmlns:a16="http://schemas.microsoft.com/office/drawing/2014/main" id="{40D040AA-7B70-05B3-37E8-9E5374B861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203E24E2-8049-5639-A852-BAD128154A2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8" name="Rectangle 3">
            <a:extLst>
              <a:ext uri="{FF2B5EF4-FFF2-40B4-BE49-F238E27FC236}">
                <a16:creationId xmlns:a16="http://schemas.microsoft.com/office/drawing/2014/main" id="{EF1AAD6D-623F-64BD-5EEF-0B07178B8570}"/>
              </a:ext>
            </a:extLst>
          </p:cNvPr>
          <p:cNvSpPr>
            <a:spLocks noGrp="1" noChangeArrowheads="1"/>
          </p:cNvSpPr>
          <p:nvPr>
            <p:ph idx="1"/>
          </p:nvPr>
        </p:nvSpPr>
        <p:spPr bwMode="auto">
          <a:xfrm>
            <a:off x="738648" y="2246372"/>
            <a:ext cx="10714703"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r>
              <a:rPr lang="en-US" sz="2600" dirty="0"/>
              <a:t>Remote development interfaces project complex desktop IDEs onto mobile displays, causing severe viewport constraints, high typing fatigue, and build crashes when network connections drop during travel. Existing cloud solutions are inadequate because they require persistent, desktop-oriented sessions rather than mobile-optimized workflows. </a:t>
            </a:r>
            <a:r>
              <a:rPr lang="en-US" sz="2600" b="1" dirty="0"/>
              <a:t>WayCode</a:t>
            </a:r>
            <a:r>
              <a:rPr lang="en-US" sz="2600" dirty="0"/>
              <a:t> resolves this by replacing direct mobile code editing with natural-language intent submission, offloading all execution, testing, and deployment to an asynchronous cloud pipeline. </a:t>
            </a:r>
            <a:endParaRPr kumimoji="0" lang="en-US" altLang="en-US" sz="2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584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1DCD-EEEE-3347-5C0C-10E73A5FE822}"/>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Project Objectives </a:t>
            </a:r>
          </a:p>
        </p:txBody>
      </p:sp>
      <p:sp>
        <p:nvSpPr>
          <p:cNvPr id="4" name="Date Placeholder 3">
            <a:extLst>
              <a:ext uri="{FF2B5EF4-FFF2-40B4-BE49-F238E27FC236}">
                <a16:creationId xmlns:a16="http://schemas.microsoft.com/office/drawing/2014/main" id="{A64FF40B-8D9A-3811-177F-61E7CFC63E3D}"/>
              </a:ext>
            </a:extLst>
          </p:cNvPr>
          <p:cNvSpPr>
            <a:spLocks noGrp="1"/>
          </p:cNvSpPr>
          <p:nvPr>
            <p:ph type="dt" sz="half" idx="10"/>
          </p:nvPr>
        </p:nvSpPr>
        <p:spPr/>
        <p:txBody>
          <a:bodyPr/>
          <a:lstStyle/>
          <a:p>
            <a:fld id="{FAD5F3B5-D9EF-4081-99AC-E7592A4468CA}" type="datetime1">
              <a:rPr lang="en-IN" smtClean="0"/>
              <a:t>17-08-2026</a:t>
            </a:fld>
            <a:endParaRPr lang="en-IN"/>
          </a:p>
        </p:txBody>
      </p:sp>
      <p:sp>
        <p:nvSpPr>
          <p:cNvPr id="6" name="Slide Number Placeholder 5">
            <a:extLst>
              <a:ext uri="{FF2B5EF4-FFF2-40B4-BE49-F238E27FC236}">
                <a16:creationId xmlns:a16="http://schemas.microsoft.com/office/drawing/2014/main" id="{ED8B19C1-E836-3143-E8F6-83D3B2B4139E}"/>
              </a:ext>
            </a:extLst>
          </p:cNvPr>
          <p:cNvSpPr>
            <a:spLocks noGrp="1"/>
          </p:cNvSpPr>
          <p:nvPr>
            <p:ph type="sldNum" sz="quarter" idx="12"/>
          </p:nvPr>
        </p:nvSpPr>
        <p:spPr/>
        <p:txBody>
          <a:bodyPr/>
          <a:lstStyle/>
          <a:p>
            <a:fld id="{47526DCF-DF60-4378-BFCC-D3A207344837}" type="slidenum">
              <a:rPr lang="en-IN" smtClean="0"/>
              <a:t>6</a:t>
            </a:fld>
            <a:endParaRPr lang="en-IN"/>
          </a:p>
        </p:txBody>
      </p:sp>
      <p:pic>
        <p:nvPicPr>
          <p:cNvPr id="9" name="Picture 8">
            <a:extLst>
              <a:ext uri="{FF2B5EF4-FFF2-40B4-BE49-F238E27FC236}">
                <a16:creationId xmlns:a16="http://schemas.microsoft.com/office/drawing/2014/main" id="{5D63859D-0EF9-086A-B2C9-C6ADEFA9A1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A8D75CDD-E81E-8531-D149-6893EA95C34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5" name="Rectangle 1">
            <a:extLst>
              <a:ext uri="{FF2B5EF4-FFF2-40B4-BE49-F238E27FC236}">
                <a16:creationId xmlns:a16="http://schemas.microsoft.com/office/drawing/2014/main" id="{56652018-3599-1B59-DCBA-B182A9FCAA79}"/>
              </a:ext>
            </a:extLst>
          </p:cNvPr>
          <p:cNvSpPr>
            <a:spLocks noGrp="1" noChangeArrowheads="1"/>
          </p:cNvSpPr>
          <p:nvPr>
            <p:ph idx="1"/>
          </p:nvPr>
        </p:nvSpPr>
        <p:spPr bwMode="auto">
          <a:xfrm>
            <a:off x="838200" y="1647369"/>
            <a:ext cx="1038580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Develop</a:t>
            </a:r>
            <a:r>
              <a:rPr kumimoji="0" lang="en-US" altLang="en-US" sz="2000" b="0" i="0" u="none" strike="noStrike" cap="none" normalizeH="0" baseline="0" dirty="0">
                <a:ln>
                  <a:noFill/>
                </a:ln>
                <a:solidFill>
                  <a:schemeClr val="tx1"/>
                </a:solidFill>
                <a:effectLst/>
                <a:latin typeface="Arial" panose="020B0604020202020204" pitchFamily="34" charset="0"/>
              </a:rPr>
              <a:t> an intent-driven, mobile-responsive Progressive Web Application (PWA) using Next.js and Tailwind CSS that eliminates the need for desktop-style code editors on mobile screens.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Implement</a:t>
            </a:r>
            <a:r>
              <a:rPr kumimoji="0" lang="en-US" altLang="en-US" sz="2000" b="0" i="0" u="none" strike="noStrike" cap="none" normalizeH="0" baseline="0" dirty="0">
                <a:ln>
                  <a:noFill/>
                </a:ln>
                <a:solidFill>
                  <a:schemeClr val="tx1"/>
                </a:solidFill>
                <a:effectLst/>
                <a:latin typeface="Arial" panose="020B0604020202020204" pitchFamily="34" charset="0"/>
              </a:rPr>
              <a:t> a secure authentication and telemetry foundation using Supabase Auth (GitHub OAuth 2.0) and Supabase Realtime for live task streaming.</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Construct</a:t>
            </a:r>
            <a:r>
              <a:rPr kumimoji="0" lang="en-US" altLang="en-US" sz="2000" b="0" i="0" u="none" strike="noStrike" cap="none" normalizeH="0" baseline="0" dirty="0">
                <a:ln>
                  <a:noFill/>
                </a:ln>
                <a:solidFill>
                  <a:schemeClr val="tx1"/>
                </a:solidFill>
                <a:effectLst/>
                <a:latin typeface="Arial" panose="020B0604020202020204" pitchFamily="34" charset="0"/>
              </a:rPr>
              <a:t> an asynchronous Redis queue on a Linux VPS to buffer requests and isolate background execution from mobile network disconnects.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Integrate</a:t>
            </a:r>
            <a:r>
              <a:rPr kumimoji="0" lang="en-US" altLang="en-US" sz="2000" b="0" i="0" u="none" strike="noStrike" cap="none" normalizeH="0" baseline="0" dirty="0">
                <a:ln>
                  <a:noFill/>
                </a:ln>
                <a:solidFill>
                  <a:schemeClr val="tx1"/>
                </a:solidFill>
                <a:effectLst/>
                <a:latin typeface="Arial" panose="020B0604020202020204" pitchFamily="34" charset="0"/>
              </a:rPr>
              <a:t> a headless execution daemon using the Gemini API to parse codebases, apply multi-file edits, run local syntax checks, and push commits to GitHub.</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Deploy</a:t>
            </a:r>
            <a:r>
              <a:rPr kumimoji="0" lang="en-US" altLang="en-US" sz="2000" b="0" i="0" u="none" strike="noStrike" cap="none" normalizeH="0" baseline="0" dirty="0">
                <a:ln>
                  <a:noFill/>
                </a:ln>
                <a:solidFill>
                  <a:schemeClr val="tx1"/>
                </a:solidFill>
                <a:effectLst/>
                <a:latin typeface="Arial" panose="020B0604020202020204" pitchFamily="34" charset="0"/>
              </a:rPr>
              <a:t> an automated continuous delivery pipeline linked to Vercel webhooks with out-of-band execution alerts sent via the WhatsApp Cloud API.</a:t>
            </a:r>
          </a:p>
        </p:txBody>
      </p:sp>
    </p:spTree>
    <p:extLst>
      <p:ext uri="{BB962C8B-B14F-4D97-AF65-F5344CB8AC3E}">
        <p14:creationId xmlns:p14="http://schemas.microsoft.com/office/powerpoint/2010/main" val="2217951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FEA8-C384-12D9-AB4F-914A0FC4FC19}"/>
              </a:ext>
            </a:extLst>
          </p:cNvPr>
          <p:cNvSpPr>
            <a:spLocks noGrp="1"/>
          </p:cNvSpPr>
          <p:nvPr>
            <p:ph type="title"/>
          </p:nvPr>
        </p:nvSpPr>
        <p:spPr>
          <a:xfrm>
            <a:off x="838200" y="186102"/>
            <a:ext cx="10515600" cy="1325563"/>
          </a:xfrm>
        </p:spPr>
        <p:txBody>
          <a:bodyPr/>
          <a:lstStyle/>
          <a:p>
            <a:pPr algn="ctr"/>
            <a:r>
              <a:rPr lang="en-IN" b="1" dirty="0">
                <a:solidFill/>
                <a:latin typeface="Times New Roman" panose="02020603050405020304" pitchFamily="18" charset="0"/>
                <a:cs typeface="Times New Roman" panose="02020603050405020304" pitchFamily="18" charset="0"/>
              </a:rPr>
              <a:t>Project Scope </a:t>
            </a:r>
          </a:p>
        </p:txBody>
      </p:sp>
      <p:graphicFrame>
        <p:nvGraphicFramePr>
          <p:cNvPr id="5" name="Content Placeholder 4">
            <a:extLst>
              <a:ext uri="{FF2B5EF4-FFF2-40B4-BE49-F238E27FC236}">
                <a16:creationId xmlns:a16="http://schemas.microsoft.com/office/drawing/2014/main" id="{E8DC3217-1C25-78A6-B50A-342C89FD6EBC}"/>
              </a:ext>
            </a:extLst>
          </p:cNvPr>
          <p:cNvGraphicFramePr>
            <a:graphicFrameLocks noGrp="1"/>
          </p:cNvGraphicFramePr>
          <p:nvPr>
            <p:ph idx="1"/>
            <p:extLst>
              <p:ext uri="{D42A27DB-BD31-4B8C-83A1-F6EECF244321}">
                <p14:modId xmlns:p14="http://schemas.microsoft.com/office/powerpoint/2010/main" val="2700802931"/>
              </p:ext>
            </p:extLst>
          </p:nvPr>
        </p:nvGraphicFramePr>
        <p:xfrm>
          <a:off x="838200" y="1412633"/>
          <a:ext cx="10515600" cy="4969107"/>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772751498"/>
                    </a:ext>
                  </a:extLst>
                </a:gridCol>
                <a:gridCol w="5257800">
                  <a:extLst>
                    <a:ext uri="{9D8B030D-6E8A-4147-A177-3AD203B41FA5}">
                      <a16:colId xmlns:a16="http://schemas.microsoft.com/office/drawing/2014/main" val="3771837230"/>
                    </a:ext>
                  </a:extLst>
                </a:gridCol>
              </a:tblGrid>
              <a:tr h="463896">
                <a:tc>
                  <a:txBody>
                    <a:bodyPr/>
                    <a:lstStyle/>
                    <a:p>
                      <a:r>
                        <a:rPr lang="en-US" sz="2000" dirty="0"/>
                        <a:t>In-Scope (Included)</a:t>
                      </a:r>
                    </a:p>
                  </a:txBody>
                  <a:tcPr/>
                </a:tc>
                <a:tc>
                  <a:txBody>
                    <a:bodyPr/>
                    <a:lstStyle/>
                    <a:p>
                      <a:r>
                        <a:rPr lang="en-US" sz="2000" dirty="0"/>
                        <a:t>Out-of-Scope (Excluded)</a:t>
                      </a:r>
                    </a:p>
                  </a:txBody>
                  <a:tcPr/>
                </a:tc>
                <a:extLst>
                  <a:ext uri="{0D108BD9-81ED-4DB2-BD59-A6C34878D82A}">
                    <a16:rowId xmlns:a16="http://schemas.microsoft.com/office/drawing/2014/main" val="1135590489"/>
                  </a:ext>
                </a:extLst>
              </a:tr>
              <a:tr h="692576">
                <a:tc>
                  <a:txBody>
                    <a:bodyPr/>
                    <a:lstStyle/>
                    <a:p>
                      <a:r>
                        <a:rPr lang="en-US" sz="2000" dirty="0"/>
                        <a:t>Mobile-responsive Next.js PWA client</a:t>
                      </a:r>
                    </a:p>
                  </a:txBody>
                  <a:tcPr/>
                </a:tc>
                <a:tc>
                  <a:txBody>
                    <a:bodyPr/>
                    <a:lstStyle/>
                    <a:p>
                      <a:r>
                        <a:rPr lang="en-US" sz="2000" dirty="0"/>
                        <a:t>In-browser code editing or mobile terminal emulation</a:t>
                      </a:r>
                    </a:p>
                  </a:txBody>
                  <a:tcPr/>
                </a:tc>
                <a:extLst>
                  <a:ext uri="{0D108BD9-81ED-4DB2-BD59-A6C34878D82A}">
                    <a16:rowId xmlns:a16="http://schemas.microsoft.com/office/drawing/2014/main" val="2696574753"/>
                  </a:ext>
                </a:extLst>
              </a:tr>
              <a:tr h="800697">
                <a:tc>
                  <a:txBody>
                    <a:bodyPr/>
                    <a:lstStyle/>
                    <a:p>
                      <a:r>
                        <a:rPr lang="en-US" sz="2000" dirty="0"/>
                        <a:t>Supabase Auth with GitHub OAuth token management</a:t>
                      </a:r>
                    </a:p>
                  </a:txBody>
                  <a:tcPr/>
                </a:tc>
                <a:tc>
                  <a:txBody>
                    <a:bodyPr/>
                    <a:lstStyle/>
                    <a:p>
                      <a:r>
                        <a:rPr lang="en-US" sz="2000" dirty="0"/>
                        <a:t>Custom on-premise Large Language Model training</a:t>
                      </a:r>
                    </a:p>
                  </a:txBody>
                  <a:tcPr/>
                </a:tc>
                <a:extLst>
                  <a:ext uri="{0D108BD9-81ED-4DB2-BD59-A6C34878D82A}">
                    <a16:rowId xmlns:a16="http://schemas.microsoft.com/office/drawing/2014/main" val="2256130973"/>
                  </a:ext>
                </a:extLst>
              </a:tr>
              <a:tr h="692576">
                <a:tc>
                  <a:txBody>
                    <a:bodyPr/>
                    <a:lstStyle/>
                    <a:p>
                      <a:r>
                        <a:rPr lang="en-US" sz="2000" dirty="0"/>
                        <a:t>Redis task queue on an Ubuntu VPS</a:t>
                      </a:r>
                    </a:p>
                  </a:txBody>
                  <a:tcPr/>
                </a:tc>
                <a:tc>
                  <a:txBody>
                    <a:bodyPr/>
                    <a:lstStyle/>
                    <a:p>
                      <a:r>
                        <a:rPr lang="fr-FR" sz="2000" dirty="0"/>
                        <a:t>Non-Git version control systems (e.g., SVN, Mercurial)</a:t>
                      </a:r>
                      <a:endParaRPr lang="en-US" sz="2000" dirty="0"/>
                    </a:p>
                  </a:txBody>
                  <a:tcPr/>
                </a:tc>
                <a:extLst>
                  <a:ext uri="{0D108BD9-81ED-4DB2-BD59-A6C34878D82A}">
                    <a16:rowId xmlns:a16="http://schemas.microsoft.com/office/drawing/2014/main" val="1380267462"/>
                  </a:ext>
                </a:extLst>
              </a:tr>
              <a:tr h="800697">
                <a:tc>
                  <a:txBody>
                    <a:bodyPr/>
                    <a:lstStyle/>
                    <a:p>
                      <a:r>
                        <a:rPr lang="en-US" sz="2000" dirty="0"/>
                        <a:t>Multi-file code generation and local syntax verification</a:t>
                      </a:r>
                    </a:p>
                  </a:txBody>
                  <a:tcPr/>
                </a:tc>
                <a:tc>
                  <a:txBody>
                    <a:bodyPr/>
                    <a:lstStyle/>
                    <a:p>
                      <a:r>
                        <a:rPr lang="en-US" sz="2000" dirty="0"/>
                        <a:t>Automated root-cause analysis for legacy monolithic systems</a:t>
                      </a:r>
                    </a:p>
                  </a:txBody>
                  <a:tcPr/>
                </a:tc>
                <a:extLst>
                  <a:ext uri="{0D108BD9-81ED-4DB2-BD59-A6C34878D82A}">
                    <a16:rowId xmlns:a16="http://schemas.microsoft.com/office/drawing/2014/main" val="3885026354"/>
                  </a:ext>
                </a:extLst>
              </a:tr>
              <a:tr h="692576">
                <a:tc>
                  <a:txBody>
                    <a:bodyPr/>
                    <a:lstStyle/>
                    <a:p>
                      <a:r>
                        <a:rPr lang="en-US" sz="2000" dirty="0"/>
                        <a:t>Mobile Git diff visual inspection before deployment</a:t>
                      </a:r>
                    </a:p>
                  </a:txBody>
                  <a:tcPr/>
                </a:tc>
                <a:tc>
                  <a:txBody>
                    <a:bodyPr/>
                    <a:lstStyle/>
                    <a:p>
                      <a:r>
                        <a:rPr lang="en-US" sz="2000" dirty="0"/>
                        <a:t>Native offline compilation on mobile hardware</a:t>
                      </a:r>
                    </a:p>
                  </a:txBody>
                  <a:tcPr/>
                </a:tc>
                <a:extLst>
                  <a:ext uri="{0D108BD9-81ED-4DB2-BD59-A6C34878D82A}">
                    <a16:rowId xmlns:a16="http://schemas.microsoft.com/office/drawing/2014/main" val="1572352121"/>
                  </a:ext>
                </a:extLst>
              </a:tr>
              <a:tr h="800697">
                <a:tc>
                  <a:txBody>
                    <a:bodyPr/>
                    <a:lstStyle/>
                    <a:p>
                      <a:r>
                        <a:rPr lang="en-US" sz="2000" dirty="0"/>
                        <a:t>Automated Vercel production deployment and WhatsApp alerts</a:t>
                      </a:r>
                    </a:p>
                  </a:txBody>
                  <a:tcPr/>
                </a:tc>
                <a:tc>
                  <a:txBody>
                    <a:bodyPr/>
                    <a:lstStyle/>
                    <a:p>
                      <a:r>
                        <a:rPr lang="fr-FR" sz="2000" dirty="0"/>
                        <a:t>Dynamic multi-tenant server infrastructure provisioning</a:t>
                      </a:r>
                      <a:endParaRPr lang="en-US" sz="2000" dirty="0"/>
                    </a:p>
                  </a:txBody>
                  <a:tcPr/>
                </a:tc>
                <a:extLst>
                  <a:ext uri="{0D108BD9-81ED-4DB2-BD59-A6C34878D82A}">
                    <a16:rowId xmlns:a16="http://schemas.microsoft.com/office/drawing/2014/main" val="839648308"/>
                  </a:ext>
                </a:extLst>
              </a:tr>
            </a:tbl>
          </a:graphicData>
        </a:graphic>
      </p:graphicFrame>
      <p:sp>
        <p:nvSpPr>
          <p:cNvPr id="4" name="Date Placeholder 3">
            <a:extLst>
              <a:ext uri="{FF2B5EF4-FFF2-40B4-BE49-F238E27FC236}">
                <a16:creationId xmlns:a16="http://schemas.microsoft.com/office/drawing/2014/main" id="{389C5961-D989-CCB9-FD83-F855C7B0BD94}"/>
              </a:ext>
            </a:extLst>
          </p:cNvPr>
          <p:cNvSpPr>
            <a:spLocks noGrp="1"/>
          </p:cNvSpPr>
          <p:nvPr>
            <p:ph type="dt" sz="half" idx="10"/>
          </p:nvPr>
        </p:nvSpPr>
        <p:spPr/>
        <p:txBody>
          <a:bodyPr/>
          <a:lstStyle/>
          <a:p>
            <a:fld id="{6B1EC009-E701-4742-A6F8-68D2AEE255B2}" type="datetime1">
              <a:rPr lang="en-IN" smtClean="0"/>
              <a:t>17-08-2026</a:t>
            </a:fld>
            <a:endParaRPr lang="en-IN"/>
          </a:p>
        </p:txBody>
      </p:sp>
      <p:sp>
        <p:nvSpPr>
          <p:cNvPr id="6" name="Slide Number Placeholder 5">
            <a:extLst>
              <a:ext uri="{FF2B5EF4-FFF2-40B4-BE49-F238E27FC236}">
                <a16:creationId xmlns:a16="http://schemas.microsoft.com/office/drawing/2014/main" id="{FCD3A722-16A3-7F28-8B33-145DDBD14735}"/>
              </a:ext>
            </a:extLst>
          </p:cNvPr>
          <p:cNvSpPr>
            <a:spLocks noGrp="1"/>
          </p:cNvSpPr>
          <p:nvPr>
            <p:ph type="sldNum" sz="quarter" idx="12"/>
          </p:nvPr>
        </p:nvSpPr>
        <p:spPr/>
        <p:txBody>
          <a:bodyPr/>
          <a:lstStyle/>
          <a:p>
            <a:fld id="{47526DCF-DF60-4378-BFCC-D3A207344837}" type="slidenum">
              <a:rPr lang="en-IN" smtClean="0"/>
              <a:t>7</a:t>
            </a:fld>
            <a:endParaRPr lang="en-IN"/>
          </a:p>
        </p:txBody>
      </p:sp>
      <p:pic>
        <p:nvPicPr>
          <p:cNvPr id="9" name="Picture 8">
            <a:extLst>
              <a:ext uri="{FF2B5EF4-FFF2-40B4-BE49-F238E27FC236}">
                <a16:creationId xmlns:a16="http://schemas.microsoft.com/office/drawing/2014/main" id="{31F5A857-13DA-E808-06CB-CECF95EB72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7546EAC5-3CAC-4246-0FC6-523A734E6DF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4234970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DCCA-37C5-B802-67BD-50809562852E}"/>
              </a:ext>
            </a:extLst>
          </p:cNvPr>
          <p:cNvSpPr>
            <a:spLocks noGrp="1"/>
          </p:cNvSpPr>
          <p:nvPr>
            <p:ph type="title"/>
          </p:nvPr>
        </p:nvSpPr>
        <p:spPr>
          <a:xfrm>
            <a:off x="838200" y="365125"/>
            <a:ext cx="10515600" cy="1099881"/>
          </a:xfrm>
        </p:spPr>
        <p:txBody>
          <a:bodyPr/>
          <a:lstStyle/>
          <a:p>
            <a:pPr algn="ctr"/>
            <a:r>
              <a:rPr lang="en-IN" b="1" dirty="0">
                <a:solidFill/>
                <a:latin typeface="Times New Roman" panose="02020603050405020304" pitchFamily="18" charset="0"/>
                <a:cs typeface="Times New Roman" panose="02020603050405020304" pitchFamily="18" charset="0"/>
              </a:rPr>
              <a:t>Data Gathered/ Data Used</a:t>
            </a:r>
          </a:p>
        </p:txBody>
      </p:sp>
      <p:graphicFrame>
        <p:nvGraphicFramePr>
          <p:cNvPr id="5" name="Content Placeholder 4">
            <a:extLst>
              <a:ext uri="{FF2B5EF4-FFF2-40B4-BE49-F238E27FC236}">
                <a16:creationId xmlns:a16="http://schemas.microsoft.com/office/drawing/2014/main" id="{C39F048E-DE5B-29E1-891C-BF4738A132E5}"/>
              </a:ext>
            </a:extLst>
          </p:cNvPr>
          <p:cNvGraphicFramePr>
            <a:graphicFrameLocks noGrp="1"/>
          </p:cNvGraphicFramePr>
          <p:nvPr>
            <p:ph idx="1"/>
            <p:extLst>
              <p:ext uri="{D42A27DB-BD31-4B8C-83A1-F6EECF244321}">
                <p14:modId xmlns:p14="http://schemas.microsoft.com/office/powerpoint/2010/main" val="3033105127"/>
              </p:ext>
            </p:extLst>
          </p:nvPr>
        </p:nvGraphicFramePr>
        <p:xfrm>
          <a:off x="838200" y="1269107"/>
          <a:ext cx="10515600" cy="5120640"/>
        </p:xfrm>
        <a:graphic>
          <a:graphicData uri="http://schemas.openxmlformats.org/drawingml/2006/table">
            <a:tbl>
              <a:tblPr firstRow="1" bandRow="1">
                <a:tableStyleId>{93296810-A885-4BE3-A3E7-6D5BEEA58F35}</a:tableStyleId>
              </a:tblPr>
              <a:tblGrid>
                <a:gridCol w="2190135">
                  <a:extLst>
                    <a:ext uri="{9D8B030D-6E8A-4147-A177-3AD203B41FA5}">
                      <a16:colId xmlns:a16="http://schemas.microsoft.com/office/drawing/2014/main" val="2294992623"/>
                    </a:ext>
                  </a:extLst>
                </a:gridCol>
                <a:gridCol w="3067665">
                  <a:extLst>
                    <a:ext uri="{9D8B030D-6E8A-4147-A177-3AD203B41FA5}">
                      <a16:colId xmlns:a16="http://schemas.microsoft.com/office/drawing/2014/main" val="2636054376"/>
                    </a:ext>
                  </a:extLst>
                </a:gridCol>
                <a:gridCol w="2628900">
                  <a:extLst>
                    <a:ext uri="{9D8B030D-6E8A-4147-A177-3AD203B41FA5}">
                      <a16:colId xmlns:a16="http://schemas.microsoft.com/office/drawing/2014/main" val="471284738"/>
                    </a:ext>
                  </a:extLst>
                </a:gridCol>
                <a:gridCol w="2628900">
                  <a:extLst>
                    <a:ext uri="{9D8B030D-6E8A-4147-A177-3AD203B41FA5}">
                      <a16:colId xmlns:a16="http://schemas.microsoft.com/office/drawing/2014/main" val="4212568277"/>
                    </a:ext>
                  </a:extLst>
                </a:gridCol>
              </a:tblGrid>
              <a:tr h="370840">
                <a:tc>
                  <a:txBody>
                    <a:bodyPr/>
                    <a:lstStyle/>
                    <a:p>
                      <a:pPr algn="ctr"/>
                      <a:r>
                        <a:rPr lang="en-US" b="1" dirty="0">
                          <a:effectLst/>
                        </a:rPr>
                        <a:t>Category</a:t>
                      </a:r>
                      <a:endParaRPr lang="en-US" dirty="0">
                        <a:effectLst/>
                        <a:latin typeface="Google Sans Text"/>
                      </a:endParaRPr>
                    </a:p>
                  </a:txBody>
                  <a:tcPr marT="60960" marB="60960" anchor="ctr"/>
                </a:tc>
                <a:tc>
                  <a:txBody>
                    <a:bodyPr/>
                    <a:lstStyle/>
                    <a:p>
                      <a:pPr algn="ctr"/>
                      <a:r>
                        <a:rPr lang="en-US" b="1" dirty="0">
                          <a:effectLst/>
                        </a:rPr>
                        <a:t>Source / Entity</a:t>
                      </a:r>
                      <a:endParaRPr lang="en-US" dirty="0">
                        <a:effectLst/>
                        <a:latin typeface="Google Sans Text"/>
                      </a:endParaRPr>
                    </a:p>
                  </a:txBody>
                  <a:tcPr marT="60960" marB="60960" anchor="ctr"/>
                </a:tc>
                <a:tc>
                  <a:txBody>
                    <a:bodyPr/>
                    <a:lstStyle/>
                    <a:p>
                      <a:pPr algn="ctr"/>
                      <a:r>
                        <a:rPr lang="en-US" b="1" dirty="0">
                          <a:effectLst/>
                        </a:rPr>
                        <a:t>Data Format</a:t>
                      </a:r>
                      <a:endParaRPr lang="en-US" dirty="0">
                        <a:effectLst/>
                        <a:latin typeface="Google Sans Text"/>
                      </a:endParaRPr>
                    </a:p>
                  </a:txBody>
                  <a:tcPr marT="60960" marB="60960" anchor="ctr"/>
                </a:tc>
                <a:tc>
                  <a:txBody>
                    <a:bodyPr/>
                    <a:lstStyle/>
                    <a:p>
                      <a:pPr algn="ctr"/>
                      <a:r>
                        <a:rPr lang="en-US" b="1" dirty="0">
                          <a:effectLst/>
                        </a:rPr>
                        <a:t>Schema / Key Attributes</a:t>
                      </a:r>
                      <a:endParaRPr lang="en-US" dirty="0">
                        <a:effectLst/>
                        <a:latin typeface="Google Sans Text"/>
                      </a:endParaRPr>
                    </a:p>
                  </a:txBody>
                  <a:tcPr marT="60960" marB="60960" anchor="ctr"/>
                </a:tc>
                <a:extLst>
                  <a:ext uri="{0D108BD9-81ED-4DB2-BD59-A6C34878D82A}">
                    <a16:rowId xmlns:a16="http://schemas.microsoft.com/office/drawing/2014/main" val="2947474920"/>
                  </a:ext>
                </a:extLst>
              </a:tr>
              <a:tr h="370840">
                <a:tc>
                  <a:txBody>
                    <a:bodyPr/>
                    <a:lstStyle/>
                    <a:p>
                      <a:pPr algn="ctr"/>
                      <a:r>
                        <a:rPr lang="en-US" b="1" dirty="0">
                          <a:effectLst/>
                        </a:rPr>
                        <a:t>Authentication Data</a:t>
                      </a:r>
                      <a:endParaRPr lang="en-US" dirty="0">
                        <a:effectLst/>
                        <a:latin typeface="Google Sans Text"/>
                      </a:endParaRPr>
                    </a:p>
                  </a:txBody>
                  <a:tcPr marT="60960" marB="60960" anchor="ctr"/>
                </a:tc>
                <a:tc>
                  <a:txBody>
                    <a:bodyPr/>
                    <a:lstStyle/>
                    <a:p>
                      <a:pPr algn="ctr"/>
                      <a:r>
                        <a:rPr lang="en-US">
                          <a:effectLst/>
                        </a:rPr>
                        <a:t>Supabase GitHub OAuth</a:t>
                      </a:r>
                      <a:endParaRPr lang="en-US">
                        <a:effectLst/>
                        <a:latin typeface="Google Sans Text"/>
                      </a:endParaRPr>
                    </a:p>
                  </a:txBody>
                  <a:tcPr marT="60960" marB="60960" anchor="ctr"/>
                </a:tc>
                <a:tc>
                  <a:txBody>
                    <a:bodyPr/>
                    <a:lstStyle/>
                    <a:p>
                      <a:pPr algn="ctr"/>
                      <a:r>
                        <a:rPr lang="en-US">
                          <a:effectLst/>
                        </a:rPr>
                        <a:t>JSON Object</a:t>
                      </a:r>
                      <a:endParaRPr lang="en-US">
                        <a:effectLst/>
                        <a:latin typeface="Google Sans Text"/>
                      </a:endParaRPr>
                    </a:p>
                  </a:txBody>
                  <a:tcPr marT="60960" marB="60960" anchor="ctr"/>
                </a:tc>
                <a:tc>
                  <a:txBody>
                    <a:bodyPr/>
                    <a:lstStyle/>
                    <a:p>
                      <a:r>
                        <a:rPr lang="en-US" dirty="0">
                          <a:effectLst/>
                        </a:rPr>
                        <a:t>User ID, GitHub Username, Email, provider_token</a:t>
                      </a:r>
                      <a:endParaRPr lang="en-US" dirty="0">
                        <a:effectLst/>
                        <a:latin typeface="Google Sans Text"/>
                      </a:endParaRPr>
                    </a:p>
                  </a:txBody>
                  <a:tcPr marT="60960" marB="60960" anchor="ctr"/>
                </a:tc>
                <a:extLst>
                  <a:ext uri="{0D108BD9-81ED-4DB2-BD59-A6C34878D82A}">
                    <a16:rowId xmlns:a16="http://schemas.microsoft.com/office/drawing/2014/main" val="1009529434"/>
                  </a:ext>
                </a:extLst>
              </a:tr>
              <a:tr h="370840">
                <a:tc>
                  <a:txBody>
                    <a:bodyPr/>
                    <a:lstStyle/>
                    <a:p>
                      <a:pPr algn="ctr"/>
                      <a:r>
                        <a:rPr lang="en-US" b="1">
                          <a:effectLst/>
                        </a:rPr>
                        <a:t>Target Codebase</a:t>
                      </a:r>
                      <a:endParaRPr lang="en-US">
                        <a:effectLst/>
                        <a:latin typeface="Google Sans Text"/>
                      </a:endParaRPr>
                    </a:p>
                  </a:txBody>
                  <a:tcPr marT="60960" marB="60960" anchor="ctr"/>
                </a:tc>
                <a:tc>
                  <a:txBody>
                    <a:bodyPr/>
                    <a:lstStyle/>
                    <a:p>
                      <a:pPr algn="ctr"/>
                      <a:r>
                        <a:rPr lang="en-US" dirty="0">
                          <a:effectLst/>
                        </a:rPr>
                        <a:t>Cloned GitHub Repositories</a:t>
                      </a:r>
                      <a:endParaRPr lang="en-US" dirty="0">
                        <a:effectLst/>
                        <a:latin typeface="Google Sans Text"/>
                      </a:endParaRPr>
                    </a:p>
                  </a:txBody>
                  <a:tcPr marT="60960" marB="60960" anchor="ctr"/>
                </a:tc>
                <a:tc>
                  <a:txBody>
                    <a:bodyPr/>
                    <a:lstStyle/>
                    <a:p>
                      <a:pPr algn="ctr"/>
                      <a:r>
                        <a:rPr lang="en-US">
                          <a:effectLst/>
                        </a:rPr>
                        <a:t>Multi-file Directory</a:t>
                      </a:r>
                      <a:endParaRPr lang="en-US">
                        <a:effectLst/>
                        <a:latin typeface="Google Sans Text"/>
                      </a:endParaRPr>
                    </a:p>
                  </a:txBody>
                  <a:tcPr marT="60960" marB="60960" anchor="ctr"/>
                </a:tc>
                <a:tc>
                  <a:txBody>
                    <a:bodyPr/>
                    <a:lstStyle/>
                    <a:p>
                      <a:r>
                        <a:rPr lang="en-US" dirty="0">
                          <a:effectLst/>
                        </a:rPr>
                        <a:t>Directory tree, package manifests, component files</a:t>
                      </a:r>
                      <a:endParaRPr lang="en-US" dirty="0">
                        <a:effectLst/>
                        <a:latin typeface="Google Sans Text"/>
                      </a:endParaRPr>
                    </a:p>
                  </a:txBody>
                  <a:tcPr marT="60960" marB="60960" anchor="ctr"/>
                </a:tc>
                <a:extLst>
                  <a:ext uri="{0D108BD9-81ED-4DB2-BD59-A6C34878D82A}">
                    <a16:rowId xmlns:a16="http://schemas.microsoft.com/office/drawing/2014/main" val="563719749"/>
                  </a:ext>
                </a:extLst>
              </a:tr>
              <a:tr h="370840">
                <a:tc>
                  <a:txBody>
                    <a:bodyPr/>
                    <a:lstStyle/>
                    <a:p>
                      <a:pPr algn="ctr"/>
                      <a:r>
                        <a:rPr lang="en-US" b="1">
                          <a:effectLst/>
                        </a:rPr>
                        <a:t>User Intent</a:t>
                      </a:r>
                      <a:endParaRPr lang="en-US">
                        <a:effectLst/>
                        <a:latin typeface="Google Sans Text"/>
                      </a:endParaRPr>
                    </a:p>
                  </a:txBody>
                  <a:tcPr marT="60960" marB="60960" anchor="ctr"/>
                </a:tc>
                <a:tc>
                  <a:txBody>
                    <a:bodyPr/>
                    <a:lstStyle/>
                    <a:p>
                      <a:pPr algn="ctr"/>
                      <a:r>
                        <a:rPr lang="en-US" dirty="0">
                          <a:effectLst/>
                        </a:rPr>
                        <a:t>Mobile PWA Input</a:t>
                      </a:r>
                      <a:endParaRPr lang="en-US" dirty="0">
                        <a:effectLst/>
                        <a:latin typeface="Google Sans Text"/>
                      </a:endParaRPr>
                    </a:p>
                  </a:txBody>
                  <a:tcPr marT="60960" marB="60960" anchor="ctr"/>
                </a:tc>
                <a:tc>
                  <a:txBody>
                    <a:bodyPr/>
                    <a:lstStyle/>
                    <a:p>
                      <a:pPr algn="ctr"/>
                      <a:r>
                        <a:rPr lang="en-US" dirty="0">
                          <a:effectLst/>
                        </a:rPr>
                        <a:t>Plain Text / JSON</a:t>
                      </a:r>
                      <a:endParaRPr lang="en-US" dirty="0">
                        <a:effectLst/>
                        <a:latin typeface="Google Sans Text"/>
                      </a:endParaRPr>
                    </a:p>
                  </a:txBody>
                  <a:tcPr marT="60960" marB="60960" anchor="ctr"/>
                </a:tc>
                <a:tc>
                  <a:txBody>
                    <a:bodyPr/>
                    <a:lstStyle/>
                    <a:p>
                      <a:r>
                        <a:rPr lang="en-US">
                          <a:effectLst/>
                        </a:rPr>
                        <a:t>Natural-language prompt string, target repository name</a:t>
                      </a:r>
                      <a:endParaRPr lang="en-US">
                        <a:effectLst/>
                        <a:latin typeface="Google Sans Text"/>
                      </a:endParaRPr>
                    </a:p>
                  </a:txBody>
                  <a:tcPr marT="60960" marB="60960" anchor="ctr"/>
                </a:tc>
                <a:extLst>
                  <a:ext uri="{0D108BD9-81ED-4DB2-BD59-A6C34878D82A}">
                    <a16:rowId xmlns:a16="http://schemas.microsoft.com/office/drawing/2014/main" val="2170377769"/>
                  </a:ext>
                </a:extLst>
              </a:tr>
              <a:tr h="370840">
                <a:tc>
                  <a:txBody>
                    <a:bodyPr/>
                    <a:lstStyle/>
                    <a:p>
                      <a:pPr algn="ctr"/>
                      <a:r>
                        <a:rPr lang="en-US" b="1">
                          <a:effectLst/>
                        </a:rPr>
                        <a:t>Job Queue State</a:t>
                      </a:r>
                      <a:endParaRPr lang="en-US">
                        <a:effectLst/>
                        <a:latin typeface="Google Sans Text"/>
                      </a:endParaRPr>
                    </a:p>
                  </a:txBody>
                  <a:tcPr marT="60960" marB="60960" anchor="ctr"/>
                </a:tc>
                <a:tc>
                  <a:txBody>
                    <a:bodyPr/>
                    <a:lstStyle/>
                    <a:p>
                      <a:pPr algn="ctr"/>
                      <a:r>
                        <a:rPr lang="en-US">
                          <a:effectLst/>
                        </a:rPr>
                        <a:t>Redis &amp; Supabase PostgreSQL</a:t>
                      </a:r>
                      <a:endParaRPr lang="en-US">
                        <a:effectLst/>
                        <a:latin typeface="Google Sans Text"/>
                      </a:endParaRPr>
                    </a:p>
                  </a:txBody>
                  <a:tcPr marT="60960" marB="60960" anchor="ctr"/>
                </a:tc>
                <a:tc>
                  <a:txBody>
                    <a:bodyPr/>
                    <a:lstStyle/>
                    <a:p>
                      <a:pPr algn="ctr"/>
                      <a:r>
                        <a:rPr lang="en-US" dirty="0">
                          <a:effectLst/>
                        </a:rPr>
                        <a:t>Key-Value / Relational</a:t>
                      </a:r>
                      <a:endParaRPr lang="en-US" dirty="0">
                        <a:effectLst/>
                        <a:latin typeface="Google Sans Text"/>
                      </a:endParaRPr>
                    </a:p>
                  </a:txBody>
                  <a:tcPr marT="60960" marB="60960" anchor="ctr"/>
                </a:tc>
                <a:tc>
                  <a:txBody>
                    <a:bodyPr/>
                    <a:lstStyle/>
                    <a:p>
                      <a:r>
                        <a:rPr lang="en-US">
                          <a:effectLst/>
                        </a:rPr>
                        <a:t>Job UUID, Status (PENDING, BUILDING, SUCCESS), Timestamp</a:t>
                      </a:r>
                      <a:endParaRPr lang="en-US">
                        <a:effectLst/>
                        <a:latin typeface="Google Sans Text"/>
                      </a:endParaRPr>
                    </a:p>
                  </a:txBody>
                  <a:tcPr marT="60960" marB="60960" anchor="ctr"/>
                </a:tc>
                <a:extLst>
                  <a:ext uri="{0D108BD9-81ED-4DB2-BD59-A6C34878D82A}">
                    <a16:rowId xmlns:a16="http://schemas.microsoft.com/office/drawing/2014/main" val="2394635717"/>
                  </a:ext>
                </a:extLst>
              </a:tr>
              <a:tr h="370840">
                <a:tc>
                  <a:txBody>
                    <a:bodyPr/>
                    <a:lstStyle/>
                    <a:p>
                      <a:pPr algn="ctr"/>
                      <a:r>
                        <a:rPr lang="en-US" b="1">
                          <a:effectLst/>
                        </a:rPr>
                        <a:t>Execution Logs</a:t>
                      </a:r>
                      <a:endParaRPr lang="en-US">
                        <a:effectLst/>
                        <a:latin typeface="Google Sans Text"/>
                      </a:endParaRPr>
                    </a:p>
                  </a:txBody>
                  <a:tcPr marT="60960" marB="60960" anchor="ctr"/>
                </a:tc>
                <a:tc>
                  <a:txBody>
                    <a:bodyPr/>
                    <a:lstStyle/>
                    <a:p>
                      <a:pPr algn="ctr"/>
                      <a:r>
                        <a:rPr lang="en-US">
                          <a:effectLst/>
                        </a:rPr>
                        <a:t>Background Daemon Output</a:t>
                      </a:r>
                      <a:endParaRPr lang="en-US">
                        <a:effectLst/>
                        <a:latin typeface="Google Sans Text"/>
                      </a:endParaRPr>
                    </a:p>
                  </a:txBody>
                  <a:tcPr marT="60960" marB="60960" anchor="ctr"/>
                </a:tc>
                <a:tc>
                  <a:txBody>
                    <a:bodyPr/>
                    <a:lstStyle/>
                    <a:p>
                      <a:pPr algn="ctr"/>
                      <a:r>
                        <a:rPr lang="en-US" dirty="0">
                          <a:effectLst/>
                        </a:rPr>
                        <a:t>Realtime String Array</a:t>
                      </a:r>
                      <a:endParaRPr lang="en-US" dirty="0">
                        <a:effectLst/>
                        <a:latin typeface="Google Sans Text"/>
                      </a:endParaRPr>
                    </a:p>
                  </a:txBody>
                  <a:tcPr marT="60960" marB="60960" anchor="ctr"/>
                </a:tc>
                <a:tc>
                  <a:txBody>
                    <a:bodyPr/>
                    <a:lstStyle/>
                    <a:p>
                      <a:r>
                        <a:rPr lang="en-US" dirty="0">
                          <a:effectLst/>
                        </a:rPr>
                        <a:t>Build step logs, syntax check outputs, generated git diff</a:t>
                      </a:r>
                      <a:endParaRPr lang="en-US" dirty="0">
                        <a:effectLst/>
                        <a:latin typeface="Google Sans Text"/>
                      </a:endParaRPr>
                    </a:p>
                  </a:txBody>
                  <a:tcPr marT="60960" marB="60960" anchor="ctr"/>
                </a:tc>
                <a:extLst>
                  <a:ext uri="{0D108BD9-81ED-4DB2-BD59-A6C34878D82A}">
                    <a16:rowId xmlns:a16="http://schemas.microsoft.com/office/drawing/2014/main" val="2304869855"/>
                  </a:ext>
                </a:extLst>
              </a:tr>
            </a:tbl>
          </a:graphicData>
        </a:graphic>
      </p:graphicFrame>
      <p:sp>
        <p:nvSpPr>
          <p:cNvPr id="4" name="Date Placeholder 3">
            <a:extLst>
              <a:ext uri="{FF2B5EF4-FFF2-40B4-BE49-F238E27FC236}">
                <a16:creationId xmlns:a16="http://schemas.microsoft.com/office/drawing/2014/main" id="{2B6F7C9E-6959-7DF2-0958-3377A79EDB7E}"/>
              </a:ext>
            </a:extLst>
          </p:cNvPr>
          <p:cNvSpPr>
            <a:spLocks noGrp="1"/>
          </p:cNvSpPr>
          <p:nvPr>
            <p:ph type="dt" sz="half" idx="10"/>
          </p:nvPr>
        </p:nvSpPr>
        <p:spPr/>
        <p:txBody>
          <a:bodyPr/>
          <a:lstStyle/>
          <a:p>
            <a:fld id="{CC5450AE-BD8B-447C-9901-2721DD6018E9}" type="datetime1">
              <a:rPr lang="en-IN" smtClean="0"/>
              <a:t>17-08-2026</a:t>
            </a:fld>
            <a:endParaRPr lang="en-IN"/>
          </a:p>
        </p:txBody>
      </p:sp>
      <p:sp>
        <p:nvSpPr>
          <p:cNvPr id="6" name="Slide Number Placeholder 5">
            <a:extLst>
              <a:ext uri="{FF2B5EF4-FFF2-40B4-BE49-F238E27FC236}">
                <a16:creationId xmlns:a16="http://schemas.microsoft.com/office/drawing/2014/main" id="{7D4876AD-1BA9-F95A-15CD-7AD191B79662}"/>
              </a:ext>
            </a:extLst>
          </p:cNvPr>
          <p:cNvSpPr>
            <a:spLocks noGrp="1"/>
          </p:cNvSpPr>
          <p:nvPr>
            <p:ph type="sldNum" sz="quarter" idx="12"/>
          </p:nvPr>
        </p:nvSpPr>
        <p:spPr/>
        <p:txBody>
          <a:bodyPr/>
          <a:lstStyle/>
          <a:p>
            <a:fld id="{47526DCF-DF60-4378-BFCC-D3A207344837}" type="slidenum">
              <a:rPr lang="en-IN" smtClean="0"/>
              <a:t>8</a:t>
            </a:fld>
            <a:endParaRPr lang="en-IN"/>
          </a:p>
        </p:txBody>
      </p:sp>
      <p:pic>
        <p:nvPicPr>
          <p:cNvPr id="9" name="Picture 8">
            <a:extLst>
              <a:ext uri="{FF2B5EF4-FFF2-40B4-BE49-F238E27FC236}">
                <a16:creationId xmlns:a16="http://schemas.microsoft.com/office/drawing/2014/main" id="{1F1F9704-019A-9D49-32EA-43BA14C5D8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AF020915-52F7-585D-62B3-FB03B0C7A4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399675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110-51AF-7502-51AC-6C218D29466E}"/>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Methodology / System Design</a:t>
            </a:r>
          </a:p>
        </p:txBody>
      </p:sp>
      <p:pic>
        <p:nvPicPr>
          <p:cNvPr id="10" name="Content Placeholder 9">
            <a:extLst>
              <a:ext uri="{FF2B5EF4-FFF2-40B4-BE49-F238E27FC236}">
                <a16:creationId xmlns:a16="http://schemas.microsoft.com/office/drawing/2014/main" id="{CB5E8425-C7AF-A25B-EBEC-0A1CCAF96B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403" y="1499985"/>
            <a:ext cx="10803194" cy="4856365"/>
          </a:xfrm>
        </p:spPr>
      </p:pic>
      <p:sp>
        <p:nvSpPr>
          <p:cNvPr id="4" name="Date Placeholder 3">
            <a:extLst>
              <a:ext uri="{FF2B5EF4-FFF2-40B4-BE49-F238E27FC236}">
                <a16:creationId xmlns:a16="http://schemas.microsoft.com/office/drawing/2014/main" id="{DCDECD8A-E1BD-594A-43F2-927C69F9EE94}"/>
              </a:ext>
            </a:extLst>
          </p:cNvPr>
          <p:cNvSpPr>
            <a:spLocks noGrp="1"/>
          </p:cNvSpPr>
          <p:nvPr>
            <p:ph type="dt" sz="half" idx="10"/>
          </p:nvPr>
        </p:nvSpPr>
        <p:spPr/>
        <p:txBody>
          <a:bodyPr/>
          <a:lstStyle/>
          <a:p>
            <a:fld id="{D6BDF448-03F0-43EC-BCA6-1D63C392EA6F}" type="datetime1">
              <a:rPr lang="en-IN" smtClean="0"/>
              <a:t>17-08-2026</a:t>
            </a:fld>
            <a:endParaRPr lang="en-IN"/>
          </a:p>
        </p:txBody>
      </p:sp>
      <p:sp>
        <p:nvSpPr>
          <p:cNvPr id="6" name="Slide Number Placeholder 5">
            <a:extLst>
              <a:ext uri="{FF2B5EF4-FFF2-40B4-BE49-F238E27FC236}">
                <a16:creationId xmlns:a16="http://schemas.microsoft.com/office/drawing/2014/main" id="{CED32E1F-EF2A-2160-FDB2-EBCAAA8B286D}"/>
              </a:ext>
            </a:extLst>
          </p:cNvPr>
          <p:cNvSpPr>
            <a:spLocks noGrp="1"/>
          </p:cNvSpPr>
          <p:nvPr>
            <p:ph type="sldNum" sz="quarter" idx="12"/>
          </p:nvPr>
        </p:nvSpPr>
        <p:spPr/>
        <p:txBody>
          <a:bodyPr/>
          <a:lstStyle/>
          <a:p>
            <a:fld id="{47526DCF-DF60-4378-BFCC-D3A207344837}" type="slidenum">
              <a:rPr lang="en-IN" smtClean="0"/>
              <a:t>9</a:t>
            </a:fld>
            <a:endParaRPr lang="en-IN"/>
          </a:p>
        </p:txBody>
      </p:sp>
      <p:pic>
        <p:nvPicPr>
          <p:cNvPr id="9" name="Picture 8">
            <a:extLst>
              <a:ext uri="{FF2B5EF4-FFF2-40B4-BE49-F238E27FC236}">
                <a16:creationId xmlns:a16="http://schemas.microsoft.com/office/drawing/2014/main" id="{8E1E8937-83C1-6B04-F05B-2160B009BC0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35906E7F-ADAF-7C39-B81D-4205F794637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31958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08D49-10AC-9C01-4FAD-F7330B269D02}"/>
              </a:ext>
            </a:extLst>
          </p:cNvPr>
          <p:cNvSpPr>
            <a:spLocks noGrp="1"/>
          </p:cNvSpPr>
          <p:nvPr>
            <p:ph type="title"/>
          </p:nvPr>
        </p:nvSpPr>
        <p:spPr>
          <a:xfrm>
            <a:off x="838200" y="365125"/>
            <a:ext cx="10515600" cy="1035627"/>
          </a:xfrm>
        </p:spPr>
        <p:txBody>
          <a:bodyPr/>
          <a:lstStyle/>
          <a:p>
            <a:pPr algn="ctr"/>
            <a:r>
              <a:rPr lang="en-IN" b="1" dirty="0">
                <a:solidFill/>
                <a:latin typeface="Times New Roman" panose="02020603050405020304" pitchFamily="18" charset="0"/>
                <a:cs typeface="Times New Roman" panose="02020603050405020304" pitchFamily="18" charset="0"/>
              </a:rPr>
              <a:t>Methodology/ System Design(cont.)</a:t>
            </a:r>
            <a:endParaRPr lang="en-IN" dirty="0"/>
          </a:p>
        </p:txBody>
      </p:sp>
      <p:pic>
        <p:nvPicPr>
          <p:cNvPr id="7" name="Content Placeholder 6">
            <a:extLst>
              <a:ext uri="{FF2B5EF4-FFF2-40B4-BE49-F238E27FC236}">
                <a16:creationId xmlns:a16="http://schemas.microsoft.com/office/drawing/2014/main" id="{C8BD2540-42F4-A6C0-28B8-3007B7ECC6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0146" y="1307317"/>
            <a:ext cx="10515600" cy="5060256"/>
          </a:xfrm>
        </p:spPr>
      </p:pic>
      <p:sp>
        <p:nvSpPr>
          <p:cNvPr id="4" name="Date Placeholder 3">
            <a:extLst>
              <a:ext uri="{FF2B5EF4-FFF2-40B4-BE49-F238E27FC236}">
                <a16:creationId xmlns:a16="http://schemas.microsoft.com/office/drawing/2014/main" id="{C6CC0D40-7F04-03A5-2DCE-D25BBBF6B8BA}"/>
              </a:ext>
            </a:extLst>
          </p:cNvPr>
          <p:cNvSpPr>
            <a:spLocks noGrp="1"/>
          </p:cNvSpPr>
          <p:nvPr>
            <p:ph type="dt" sz="half" idx="10"/>
          </p:nvPr>
        </p:nvSpPr>
        <p:spPr/>
        <p:txBody>
          <a:bodyPr/>
          <a:lstStyle/>
          <a:p>
            <a:fld id="{3DFC8CC6-26E3-43F7-B734-6293647E4AE0}" type="datetime1">
              <a:rPr lang="en-IN" smtClean="0"/>
              <a:t>17-08-2026</a:t>
            </a:fld>
            <a:endParaRPr lang="en-IN"/>
          </a:p>
        </p:txBody>
      </p:sp>
      <p:sp>
        <p:nvSpPr>
          <p:cNvPr id="6" name="Slide Number Placeholder 5">
            <a:extLst>
              <a:ext uri="{FF2B5EF4-FFF2-40B4-BE49-F238E27FC236}">
                <a16:creationId xmlns:a16="http://schemas.microsoft.com/office/drawing/2014/main" id="{7B549A0E-E589-F2DF-8882-F3F874F4C3EB}"/>
              </a:ext>
            </a:extLst>
          </p:cNvPr>
          <p:cNvSpPr>
            <a:spLocks noGrp="1"/>
          </p:cNvSpPr>
          <p:nvPr>
            <p:ph type="sldNum" sz="quarter" idx="12"/>
          </p:nvPr>
        </p:nvSpPr>
        <p:spPr/>
        <p:txBody>
          <a:bodyPr/>
          <a:lstStyle/>
          <a:p>
            <a:fld id="{47526DCF-DF60-4378-BFCC-D3A207344837}" type="slidenum">
              <a:rPr lang="en-IN" smtClean="0"/>
              <a:t>10</a:t>
            </a:fld>
            <a:endParaRPr lang="en-IN"/>
          </a:p>
        </p:txBody>
      </p:sp>
      <p:pic>
        <p:nvPicPr>
          <p:cNvPr id="9" name="Picture 8">
            <a:extLst>
              <a:ext uri="{FF2B5EF4-FFF2-40B4-BE49-F238E27FC236}">
                <a16:creationId xmlns:a16="http://schemas.microsoft.com/office/drawing/2014/main" id="{CFEBB333-F762-D0D1-D4E4-E2B58B809E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27B2F452-432C-D1B3-12E5-57F871B8D9B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103954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37D2-C055-A0AE-76BE-F053AD2C5178}"/>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Implementation / Modules</a:t>
            </a:r>
          </a:p>
        </p:txBody>
      </p:sp>
      <p:sp>
        <p:nvSpPr>
          <p:cNvPr id="4" name="Date Placeholder 3">
            <a:extLst>
              <a:ext uri="{FF2B5EF4-FFF2-40B4-BE49-F238E27FC236}">
                <a16:creationId xmlns:a16="http://schemas.microsoft.com/office/drawing/2014/main" id="{CDB52C39-8579-8CCB-38A6-30FF6BC37CD5}"/>
              </a:ext>
            </a:extLst>
          </p:cNvPr>
          <p:cNvSpPr>
            <a:spLocks noGrp="1"/>
          </p:cNvSpPr>
          <p:nvPr>
            <p:ph type="dt" sz="half" idx="10"/>
          </p:nvPr>
        </p:nvSpPr>
        <p:spPr/>
        <p:txBody>
          <a:bodyPr/>
          <a:lstStyle/>
          <a:p>
            <a:fld id="{A94BB265-B665-4CBB-85A1-333BF9CE19DA}" type="datetime1">
              <a:rPr lang="en-IN" smtClean="0"/>
              <a:t>17-08-2026</a:t>
            </a:fld>
            <a:endParaRPr lang="en-IN"/>
          </a:p>
        </p:txBody>
      </p:sp>
      <p:sp>
        <p:nvSpPr>
          <p:cNvPr id="6" name="Slide Number Placeholder 5">
            <a:extLst>
              <a:ext uri="{FF2B5EF4-FFF2-40B4-BE49-F238E27FC236}">
                <a16:creationId xmlns:a16="http://schemas.microsoft.com/office/drawing/2014/main" id="{BFB68C94-0F26-D10A-70D2-DF88E6B3A4C2}"/>
              </a:ext>
            </a:extLst>
          </p:cNvPr>
          <p:cNvSpPr>
            <a:spLocks noGrp="1"/>
          </p:cNvSpPr>
          <p:nvPr>
            <p:ph type="sldNum" sz="quarter" idx="12"/>
          </p:nvPr>
        </p:nvSpPr>
        <p:spPr/>
        <p:txBody>
          <a:bodyPr/>
          <a:lstStyle/>
          <a:p>
            <a:fld id="{47526DCF-DF60-4378-BFCC-D3A207344837}" type="slidenum">
              <a:rPr lang="en-IN" smtClean="0"/>
              <a:t>11</a:t>
            </a:fld>
            <a:endParaRPr lang="en-IN"/>
          </a:p>
        </p:txBody>
      </p:sp>
      <p:pic>
        <p:nvPicPr>
          <p:cNvPr id="9" name="Picture 8">
            <a:extLst>
              <a:ext uri="{FF2B5EF4-FFF2-40B4-BE49-F238E27FC236}">
                <a16:creationId xmlns:a16="http://schemas.microsoft.com/office/drawing/2014/main" id="{39E863B3-CF30-A970-3B7E-E86A0703EE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D5767629-5083-EAB2-1DC3-AECBA6CB964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5" name="Rectangle 1">
            <a:extLst>
              <a:ext uri="{FF2B5EF4-FFF2-40B4-BE49-F238E27FC236}">
                <a16:creationId xmlns:a16="http://schemas.microsoft.com/office/drawing/2014/main" id="{5749F7ED-EBC4-BC40-D60F-CEDEAC6C237C}"/>
              </a:ext>
            </a:extLst>
          </p:cNvPr>
          <p:cNvSpPr>
            <a:spLocks noGrp="1" noChangeArrowheads="1"/>
          </p:cNvSpPr>
          <p:nvPr>
            <p:ph idx="1"/>
          </p:nvPr>
        </p:nvSpPr>
        <p:spPr bwMode="auto">
          <a:xfrm>
            <a:off x="383457" y="1923162"/>
            <a:ext cx="586985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u="none" strike="noStrike" cap="none" normalizeH="0" baseline="0" dirty="0">
                <a:ln>
                  <a:noFill/>
                </a:ln>
                <a:solidFill>
                  <a:schemeClr val="tx1"/>
                </a:solidFill>
                <a:effectLst/>
                <a:latin typeface="Arial" panose="020B0604020202020204" pitchFamily="34" charset="0"/>
              </a:rPr>
              <a:t> Repository Link: </a:t>
            </a:r>
            <a:r>
              <a:rPr kumimoji="0" lang="en-US" altLang="en-US" sz="1800" b="1" u="none" strike="noStrike" cap="none" normalizeH="0" baseline="0" dirty="0">
                <a:ln>
                  <a:noFill/>
                </a:ln>
                <a:solidFill>
                  <a:srgbClr val="0070C0"/>
                </a:solidFill>
                <a:effectLst/>
                <a:latin typeface="Arial" panose="020B0604020202020204" pitchFamily="34" charset="0"/>
                <a:hlinkClick r:id="rId4">
                  <a:extLst>
                    <a:ext uri="{A12FA001-AC4F-418D-AE19-62706E023703}">
                      <ahyp:hlinkClr xmlns:ahyp="http://schemas.microsoft.com/office/drawing/2018/hyperlinkcolor" val="tx"/>
                    </a:ext>
                  </a:extLst>
                </a:hlinkClick>
              </a:rPr>
              <a:t>WayCode</a:t>
            </a:r>
            <a:r>
              <a:rPr kumimoji="0" lang="en-US" altLang="en-US" sz="1800" b="1"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Arial" panose="020B0604020202020204" pitchFamily="34" charset="0"/>
              </a:rPr>
              <a:t> </a:t>
            </a:r>
            <a:r>
              <a:rPr kumimoji="0" lang="en-US" altLang="en-US" sz="1800" b="1" u="none" strike="noStrike" cap="none" normalizeH="0" baseline="0" dirty="0">
                <a:ln>
                  <a:noFill/>
                </a:ln>
                <a:solidFill>
                  <a:schemeClr val="tx1"/>
                </a:solidFill>
                <a:effectLst/>
                <a:latin typeface="Arial" panose="020B0604020202020204" pitchFamily="34" charset="0"/>
              </a:rPr>
              <a:t>Major Modules:</a:t>
            </a:r>
            <a:endParaRPr kumimoji="0" lang="en-US" altLang="en-US" sz="1800" b="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buFont typeface="Wingdings" panose="05000000000000000000" pitchFamily="2" charset="2"/>
              <a:buChar char="ü"/>
            </a:pPr>
            <a:r>
              <a:rPr kumimoji="0" lang="en-US" altLang="en-US" sz="1600" b="1" u="none" strike="noStrike" cap="none" normalizeH="0" baseline="0" dirty="0">
                <a:ln>
                  <a:noFill/>
                </a:ln>
                <a:solidFill>
                  <a:schemeClr val="tx1"/>
                </a:solidFill>
                <a:effectLst/>
                <a:latin typeface="Arial" panose="020B0604020202020204" pitchFamily="34" charset="0"/>
              </a:rPr>
              <a:t>Authentication Module:</a:t>
            </a:r>
            <a:r>
              <a:rPr kumimoji="0" lang="en-US" altLang="en-US" sz="1600" b="0" u="none" strike="noStrike" cap="none" normalizeH="0" baseline="0" dirty="0">
                <a:ln>
                  <a:noFill/>
                </a:ln>
                <a:solidFill>
                  <a:schemeClr val="tx1"/>
                </a:solidFill>
                <a:effectLst/>
                <a:latin typeface="Arial" panose="020B0604020202020204" pitchFamily="34" charset="0"/>
              </a:rPr>
              <a:t> Handles Supabase GitHub OAuth 2.0 and manages repository write scopes.</a:t>
            </a:r>
          </a:p>
          <a:p>
            <a:pPr lvl="1" eaLnBrk="0" fontAlgn="base" hangingPunct="0">
              <a:lnSpc>
                <a:spcPct val="100000"/>
              </a:lnSpc>
              <a:spcBef>
                <a:spcPct val="0"/>
              </a:spcBef>
              <a:spcAft>
                <a:spcPct val="0"/>
              </a:spcAft>
              <a:buFont typeface="Wingdings" panose="05000000000000000000" pitchFamily="2" charset="2"/>
              <a:buChar char="ü"/>
            </a:pPr>
            <a:r>
              <a:rPr kumimoji="0" lang="en-US" altLang="en-US" sz="1600" b="1" u="none" strike="noStrike" cap="none" normalizeH="0" baseline="0" dirty="0">
                <a:ln>
                  <a:noFill/>
                </a:ln>
                <a:solidFill>
                  <a:schemeClr val="tx1"/>
                </a:solidFill>
                <a:effectLst/>
                <a:latin typeface="Arial" panose="020B0604020202020204" pitchFamily="34" charset="0"/>
              </a:rPr>
              <a:t>Queue Manager:</a:t>
            </a:r>
            <a:r>
              <a:rPr kumimoji="0" lang="en-US" altLang="en-US" sz="1600" b="0" u="none" strike="noStrike" cap="none" normalizeH="0" baseline="0" dirty="0">
                <a:ln>
                  <a:noFill/>
                </a:ln>
                <a:solidFill>
                  <a:schemeClr val="tx1"/>
                </a:solidFill>
                <a:effectLst/>
                <a:latin typeface="Arial" panose="020B0604020202020204" pitchFamily="34" charset="0"/>
              </a:rPr>
              <a:t> Redis-backed worker managing asynchronous task ingestion and state transitions.</a:t>
            </a:r>
          </a:p>
          <a:p>
            <a:pPr lvl="1" eaLnBrk="0" fontAlgn="base" hangingPunct="0">
              <a:lnSpc>
                <a:spcPct val="100000"/>
              </a:lnSpc>
              <a:spcBef>
                <a:spcPct val="0"/>
              </a:spcBef>
              <a:spcAft>
                <a:spcPct val="0"/>
              </a:spcAft>
              <a:buFont typeface="Wingdings" panose="05000000000000000000" pitchFamily="2" charset="2"/>
              <a:buChar char="ü"/>
            </a:pPr>
            <a:r>
              <a:rPr kumimoji="0" lang="en-US" altLang="en-US" sz="1600" b="1" u="none" strike="noStrike" cap="none" normalizeH="0" baseline="0" dirty="0">
                <a:ln>
                  <a:noFill/>
                </a:ln>
                <a:solidFill>
                  <a:schemeClr val="tx1"/>
                </a:solidFill>
                <a:effectLst/>
                <a:latin typeface="Arial" panose="020B0604020202020204" pitchFamily="34" charset="0"/>
              </a:rPr>
              <a:t>Agent Sandbox Daemon: </a:t>
            </a:r>
            <a:r>
              <a:rPr kumimoji="0" lang="en-US" altLang="en-US" sz="1600" b="0" u="none" strike="noStrike" cap="none" normalizeH="0" baseline="0" dirty="0">
                <a:ln>
                  <a:noFill/>
                </a:ln>
                <a:solidFill>
                  <a:schemeClr val="tx1"/>
                </a:solidFill>
                <a:effectLst/>
                <a:latin typeface="Arial" panose="020B0604020202020204" pitchFamily="34" charset="0"/>
              </a:rPr>
              <a:t>Clones repositories, runs the Gemini API toolset, and verifies syntax locally.</a:t>
            </a:r>
          </a:p>
          <a:p>
            <a:pPr lvl="1" eaLnBrk="0" fontAlgn="base" hangingPunct="0">
              <a:lnSpc>
                <a:spcPct val="100000"/>
              </a:lnSpc>
              <a:spcBef>
                <a:spcPct val="0"/>
              </a:spcBef>
              <a:spcAft>
                <a:spcPct val="0"/>
              </a:spcAft>
              <a:buFont typeface="Wingdings" panose="05000000000000000000" pitchFamily="2" charset="2"/>
              <a:buChar char="ü"/>
            </a:pPr>
            <a:r>
              <a:rPr kumimoji="0" lang="en-US" altLang="en-US" sz="1600" b="1" u="none" strike="noStrike" cap="none" normalizeH="0" baseline="0" dirty="0">
                <a:ln>
                  <a:noFill/>
                </a:ln>
                <a:solidFill>
                  <a:schemeClr val="tx1"/>
                </a:solidFill>
                <a:effectLst/>
                <a:latin typeface="Arial" panose="020B0604020202020204" pitchFamily="34" charset="0"/>
              </a:rPr>
              <a:t>Deployment &amp; Notification Pipeline: </a:t>
            </a:r>
            <a:r>
              <a:rPr kumimoji="0" lang="en-US" altLang="en-US" sz="1600" b="0" u="none" strike="noStrike" cap="none" normalizeH="0" baseline="0" dirty="0">
                <a:ln>
                  <a:noFill/>
                </a:ln>
                <a:solidFill>
                  <a:schemeClr val="tx1"/>
                </a:solidFill>
                <a:effectLst/>
                <a:latin typeface="Arial" panose="020B0604020202020204" pitchFamily="34" charset="0"/>
              </a:rPr>
              <a:t>Pushes commits to GitHub, triggers Vercel deployments, and fires WhatsApp API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u="none" strike="noStrike" cap="none" normalizeH="0" baseline="0" dirty="0">
                <a:ln>
                  <a:noFill/>
                </a:ln>
                <a:solidFill>
                  <a:schemeClr val="tx1"/>
                </a:solidFill>
                <a:effectLst/>
                <a:latin typeface="Arial" panose="020B0604020202020204" pitchFamily="34" charset="0"/>
              </a:rPr>
              <a:t> Technologies Used:</a:t>
            </a:r>
            <a:r>
              <a:rPr kumimoji="0" lang="en-US" altLang="en-US" sz="1800" b="0" u="none" strike="noStrike" cap="none" normalizeH="0" baseline="0" dirty="0">
                <a:ln>
                  <a:noFill/>
                </a:ln>
                <a:solidFill>
                  <a:schemeClr val="tx1"/>
                </a:solidFill>
                <a:effectLst/>
                <a:latin typeface="Arial" panose="020B0604020202020204" pitchFamily="34" charset="0"/>
              </a:rPr>
              <a:t> Next.js, Supabase, Redis, Gemini API, Hostinger VPS, PM2, Vercel, WhatsApp Cloud API.</a:t>
            </a:r>
          </a:p>
        </p:txBody>
      </p:sp>
      <p:sp>
        <p:nvSpPr>
          <p:cNvPr id="12" name="TextBox 11">
            <a:extLst>
              <a:ext uri="{FF2B5EF4-FFF2-40B4-BE49-F238E27FC236}">
                <a16:creationId xmlns:a16="http://schemas.microsoft.com/office/drawing/2014/main" id="{AF81BBBC-E81C-B35C-50C8-21570995E6A1}"/>
              </a:ext>
            </a:extLst>
          </p:cNvPr>
          <p:cNvSpPr txBox="1"/>
          <p:nvPr/>
        </p:nvSpPr>
        <p:spPr>
          <a:xfrm>
            <a:off x="6479459" y="1923162"/>
            <a:ext cx="5329084" cy="369332"/>
          </a:xfrm>
          <a:prstGeom prst="rect">
            <a:avLst/>
          </a:prstGeom>
          <a:noFill/>
        </p:spPr>
        <p:txBody>
          <a:bodyPr wrap="square">
            <a:spAutoFit/>
          </a:bodyPr>
          <a:lstStyle/>
          <a:p>
            <a:r>
              <a:rPr lang="en-US" b="1" dirty="0"/>
              <a:t>Key Code Snippet (Queue Ingestion &amp; Status Tracking):</a:t>
            </a:r>
          </a:p>
        </p:txBody>
      </p:sp>
      <p:pic>
        <p:nvPicPr>
          <p:cNvPr id="16" name="Picture 15">
            <a:extLst>
              <a:ext uri="{FF2B5EF4-FFF2-40B4-BE49-F238E27FC236}">
                <a16:creationId xmlns:a16="http://schemas.microsoft.com/office/drawing/2014/main" id="{A27C9E8D-77F6-9610-1D05-DBD9361251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9459" y="2524968"/>
            <a:ext cx="5712541" cy="2833813"/>
          </a:xfrm>
          <a:prstGeom prst="rect">
            <a:avLst/>
          </a:prstGeom>
        </p:spPr>
      </p:pic>
    </p:spTree>
    <p:extLst>
      <p:ext uri="{BB962C8B-B14F-4D97-AF65-F5344CB8AC3E}">
        <p14:creationId xmlns:p14="http://schemas.microsoft.com/office/powerpoint/2010/main" val="309816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AB7D-6F03-4630-46A2-BB97B39DB44C}"/>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Results (Full) / Screenshots </a:t>
            </a:r>
          </a:p>
        </p:txBody>
      </p:sp>
      <p:pic>
        <p:nvPicPr>
          <p:cNvPr id="7" name="Content Placeholder 6">
            <a:extLst>
              <a:ext uri="{FF2B5EF4-FFF2-40B4-BE49-F238E27FC236}">
                <a16:creationId xmlns:a16="http://schemas.microsoft.com/office/drawing/2014/main" id="{945105FB-DE8D-ADA0-1EB2-BAB0D9E643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6765" y="1361881"/>
            <a:ext cx="10697035" cy="5130994"/>
          </a:xfrm>
        </p:spPr>
      </p:pic>
      <p:sp>
        <p:nvSpPr>
          <p:cNvPr id="4" name="Date Placeholder 3">
            <a:extLst>
              <a:ext uri="{FF2B5EF4-FFF2-40B4-BE49-F238E27FC236}">
                <a16:creationId xmlns:a16="http://schemas.microsoft.com/office/drawing/2014/main" id="{53A20085-5E2E-0801-C48C-3123AE6D0BA8}"/>
              </a:ext>
            </a:extLst>
          </p:cNvPr>
          <p:cNvSpPr>
            <a:spLocks noGrp="1"/>
          </p:cNvSpPr>
          <p:nvPr>
            <p:ph type="dt" sz="half" idx="10"/>
          </p:nvPr>
        </p:nvSpPr>
        <p:spPr/>
        <p:txBody>
          <a:bodyPr/>
          <a:lstStyle/>
          <a:p>
            <a:fld id="{AD2D03F8-AE50-4782-A27D-3E1124D866CD}" type="datetime1">
              <a:rPr lang="en-IN" smtClean="0"/>
              <a:t>17-08-2026</a:t>
            </a:fld>
            <a:endParaRPr lang="en-IN"/>
          </a:p>
        </p:txBody>
      </p:sp>
      <p:sp>
        <p:nvSpPr>
          <p:cNvPr id="6" name="Slide Number Placeholder 5">
            <a:extLst>
              <a:ext uri="{FF2B5EF4-FFF2-40B4-BE49-F238E27FC236}">
                <a16:creationId xmlns:a16="http://schemas.microsoft.com/office/drawing/2014/main" id="{00DA51D1-6CB3-B4F9-1515-CA9758CD2DDA}"/>
              </a:ext>
            </a:extLst>
          </p:cNvPr>
          <p:cNvSpPr>
            <a:spLocks noGrp="1"/>
          </p:cNvSpPr>
          <p:nvPr>
            <p:ph type="sldNum" sz="quarter" idx="12"/>
          </p:nvPr>
        </p:nvSpPr>
        <p:spPr/>
        <p:txBody>
          <a:bodyPr/>
          <a:lstStyle/>
          <a:p>
            <a:fld id="{47526DCF-DF60-4378-BFCC-D3A207344837}" type="slidenum">
              <a:rPr lang="en-IN" smtClean="0"/>
              <a:t>12</a:t>
            </a:fld>
            <a:endParaRPr lang="en-IN"/>
          </a:p>
        </p:txBody>
      </p:sp>
      <p:pic>
        <p:nvPicPr>
          <p:cNvPr id="9" name="Picture 8">
            <a:extLst>
              <a:ext uri="{FF2B5EF4-FFF2-40B4-BE49-F238E27FC236}">
                <a16:creationId xmlns:a16="http://schemas.microsoft.com/office/drawing/2014/main" id="{423FAD20-2692-F5B9-4539-5E304452F1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2E381761-6D93-D2BC-1D6D-D7622F8B43D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80023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C339-7109-22A2-C449-4EAB8CD8D47A}"/>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Impact Assessment </a:t>
            </a:r>
          </a:p>
        </p:txBody>
      </p:sp>
      <p:graphicFrame>
        <p:nvGraphicFramePr>
          <p:cNvPr id="5" name="Content Placeholder 4">
            <a:extLst>
              <a:ext uri="{FF2B5EF4-FFF2-40B4-BE49-F238E27FC236}">
                <a16:creationId xmlns:a16="http://schemas.microsoft.com/office/drawing/2014/main" id="{FE9CC398-2004-DA89-A0B5-D86ECA2CE5E3}"/>
              </a:ext>
            </a:extLst>
          </p:cNvPr>
          <p:cNvGraphicFramePr>
            <a:graphicFrameLocks noGrp="1"/>
          </p:cNvGraphicFramePr>
          <p:nvPr>
            <p:ph idx="1"/>
            <p:extLst>
              <p:ext uri="{D42A27DB-BD31-4B8C-83A1-F6EECF244321}">
                <p14:modId xmlns:p14="http://schemas.microsoft.com/office/powerpoint/2010/main" val="3054428295"/>
              </p:ext>
            </p:extLst>
          </p:nvPr>
        </p:nvGraphicFramePr>
        <p:xfrm>
          <a:off x="838203" y="1766799"/>
          <a:ext cx="10515597" cy="3866627"/>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40341976"/>
                    </a:ext>
                  </a:extLst>
                </a:gridCol>
                <a:gridCol w="3505199">
                  <a:extLst>
                    <a:ext uri="{9D8B030D-6E8A-4147-A177-3AD203B41FA5}">
                      <a16:colId xmlns:a16="http://schemas.microsoft.com/office/drawing/2014/main" val="130121019"/>
                    </a:ext>
                  </a:extLst>
                </a:gridCol>
                <a:gridCol w="3505199">
                  <a:extLst>
                    <a:ext uri="{9D8B030D-6E8A-4147-A177-3AD203B41FA5}">
                      <a16:colId xmlns:a16="http://schemas.microsoft.com/office/drawing/2014/main" val="429729471"/>
                    </a:ext>
                  </a:extLst>
                </a:gridCol>
              </a:tblGrid>
              <a:tr h="740594">
                <a:tc>
                  <a:txBody>
                    <a:bodyPr/>
                    <a:lstStyle/>
                    <a:p>
                      <a:pPr algn="ctr"/>
                      <a:r>
                        <a:rPr lang="en-US" sz="2200" dirty="0"/>
                        <a:t>Technical Impact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t>Social &amp; Developer Impact</a:t>
                      </a:r>
                      <a:endParaRPr 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t>Economic Impact</a:t>
                      </a:r>
                      <a:endParaRPr lang="en-US" sz="2200" dirty="0"/>
                    </a:p>
                  </a:txBody>
                  <a:tcPr anchor="ctr"/>
                </a:tc>
                <a:extLst>
                  <a:ext uri="{0D108BD9-81ED-4DB2-BD59-A6C34878D82A}">
                    <a16:rowId xmlns:a16="http://schemas.microsoft.com/office/drawing/2014/main" val="2739875302"/>
                  </a:ext>
                </a:extLst>
              </a:tr>
              <a:tr h="1553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Offloads 100% of code parsing, execution, and syntax verification from mobile devices to cloud infrastructure.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Removes interface fatigue by eliminating dense code editors from small smartphone displays.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Reduces incident response times for critical bugs from hours to minutes.</a:t>
                      </a:r>
                    </a:p>
                  </a:txBody>
                  <a:tcPr anchor="ctr"/>
                </a:tc>
                <a:extLst>
                  <a:ext uri="{0D108BD9-81ED-4DB2-BD59-A6C34878D82A}">
                    <a16:rowId xmlns:a16="http://schemas.microsoft.com/office/drawing/2014/main" val="418645396"/>
                  </a:ext>
                </a:extLst>
              </a:tr>
              <a:tr h="15727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Ensures reliable background execution during cellular network handovers via Redis queue buffering.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Allows developers to trigger, review, and deploy production hotfixes during transit.</a:t>
                      </a:r>
                    </a:p>
                  </a:txBody>
                  <a:tcPr anchor="ctr"/>
                </a:tc>
                <a:tc>
                  <a:txBody>
                    <a:bodyPr/>
                    <a:lstStyle/>
                    <a:p>
                      <a:r>
                        <a:rPr lang="en-US" sz="2000" dirty="0"/>
                        <a:t>Lowers infrastructure costs by running lightweight headless servers instead of continuous virtual desktop instances.</a:t>
                      </a:r>
                    </a:p>
                  </a:txBody>
                  <a:tcPr anchor="ctr"/>
                </a:tc>
                <a:extLst>
                  <a:ext uri="{0D108BD9-81ED-4DB2-BD59-A6C34878D82A}">
                    <a16:rowId xmlns:a16="http://schemas.microsoft.com/office/drawing/2014/main" val="3712991880"/>
                  </a:ext>
                </a:extLst>
              </a:tr>
            </a:tbl>
          </a:graphicData>
        </a:graphic>
      </p:graphicFrame>
      <p:sp>
        <p:nvSpPr>
          <p:cNvPr id="4" name="Date Placeholder 3">
            <a:extLst>
              <a:ext uri="{FF2B5EF4-FFF2-40B4-BE49-F238E27FC236}">
                <a16:creationId xmlns:a16="http://schemas.microsoft.com/office/drawing/2014/main" id="{54F49FF7-21AD-45B9-11C8-B23CD9E5171C}"/>
              </a:ext>
            </a:extLst>
          </p:cNvPr>
          <p:cNvSpPr>
            <a:spLocks noGrp="1"/>
          </p:cNvSpPr>
          <p:nvPr>
            <p:ph type="dt" sz="half" idx="10"/>
          </p:nvPr>
        </p:nvSpPr>
        <p:spPr/>
        <p:txBody>
          <a:bodyPr/>
          <a:lstStyle/>
          <a:p>
            <a:fld id="{C855943D-BF08-465E-B625-3608A356F587}" type="datetime1">
              <a:rPr lang="en-IN" smtClean="0"/>
              <a:t>17-08-2026</a:t>
            </a:fld>
            <a:endParaRPr lang="en-IN"/>
          </a:p>
        </p:txBody>
      </p:sp>
      <p:sp>
        <p:nvSpPr>
          <p:cNvPr id="6" name="Slide Number Placeholder 5">
            <a:extLst>
              <a:ext uri="{FF2B5EF4-FFF2-40B4-BE49-F238E27FC236}">
                <a16:creationId xmlns:a16="http://schemas.microsoft.com/office/drawing/2014/main" id="{72F6FE67-A70E-70E3-3F46-A2488861373E}"/>
              </a:ext>
            </a:extLst>
          </p:cNvPr>
          <p:cNvSpPr>
            <a:spLocks noGrp="1"/>
          </p:cNvSpPr>
          <p:nvPr>
            <p:ph type="sldNum" sz="quarter" idx="12"/>
          </p:nvPr>
        </p:nvSpPr>
        <p:spPr/>
        <p:txBody>
          <a:bodyPr/>
          <a:lstStyle/>
          <a:p>
            <a:fld id="{47526DCF-DF60-4378-BFCC-D3A207344837}" type="slidenum">
              <a:rPr lang="en-IN" smtClean="0"/>
              <a:t>13</a:t>
            </a:fld>
            <a:endParaRPr lang="en-IN"/>
          </a:p>
        </p:txBody>
      </p:sp>
      <p:pic>
        <p:nvPicPr>
          <p:cNvPr id="9" name="Picture 8">
            <a:extLst>
              <a:ext uri="{FF2B5EF4-FFF2-40B4-BE49-F238E27FC236}">
                <a16:creationId xmlns:a16="http://schemas.microsoft.com/office/drawing/2014/main" id="{2741D3CD-89C3-DA69-D4C1-956477C791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03C22323-53FD-6C20-6882-752C48FB81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1549317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4A12-A0D7-06D5-FBC6-343B3FF8AA0E}"/>
              </a:ext>
            </a:extLst>
          </p:cNvPr>
          <p:cNvSpPr>
            <a:spLocks noGrp="1"/>
          </p:cNvSpPr>
          <p:nvPr>
            <p:ph type="title"/>
          </p:nvPr>
        </p:nvSpPr>
        <p:spPr>
          <a:xfrm>
            <a:off x="838200" y="365125"/>
            <a:ext cx="10515600" cy="967519"/>
          </a:xfrm>
        </p:spPr>
        <p:txBody>
          <a:bodyPr/>
          <a:lstStyle/>
          <a:p>
            <a:pPr algn="ctr"/>
            <a:r>
              <a:rPr lang="en-IN" b="1" dirty="0">
                <a:solidFill/>
                <a:latin typeface="Times New Roman" panose="02020603050405020304" pitchFamily="18" charset="0"/>
                <a:cs typeface="Times New Roman" panose="02020603050405020304" pitchFamily="18" charset="0"/>
              </a:rPr>
              <a:t>Challenges Faced </a:t>
            </a:r>
          </a:p>
        </p:txBody>
      </p:sp>
      <p:graphicFrame>
        <p:nvGraphicFramePr>
          <p:cNvPr id="5" name="Content Placeholder 4">
            <a:extLst>
              <a:ext uri="{FF2B5EF4-FFF2-40B4-BE49-F238E27FC236}">
                <a16:creationId xmlns:a16="http://schemas.microsoft.com/office/drawing/2014/main" id="{CE22346C-B567-D1AB-707A-9BF62F550BF9}"/>
              </a:ext>
            </a:extLst>
          </p:cNvPr>
          <p:cNvGraphicFramePr>
            <a:graphicFrameLocks noGrp="1"/>
          </p:cNvGraphicFramePr>
          <p:nvPr>
            <p:ph idx="1"/>
            <p:extLst>
              <p:ext uri="{D42A27DB-BD31-4B8C-83A1-F6EECF244321}">
                <p14:modId xmlns:p14="http://schemas.microsoft.com/office/powerpoint/2010/main" val="843621494"/>
              </p:ext>
            </p:extLst>
          </p:nvPr>
        </p:nvGraphicFramePr>
        <p:xfrm>
          <a:off x="727583" y="1332644"/>
          <a:ext cx="10626219" cy="4898404"/>
        </p:xfrm>
        <a:graphic>
          <a:graphicData uri="http://schemas.openxmlformats.org/drawingml/2006/table">
            <a:tbl>
              <a:tblPr firstRow="1" bandRow="1">
                <a:tableStyleId>{5C22544A-7EE6-4342-B048-85BDC9FD1C3A}</a:tableStyleId>
              </a:tblPr>
              <a:tblGrid>
                <a:gridCol w="2969346">
                  <a:extLst>
                    <a:ext uri="{9D8B030D-6E8A-4147-A177-3AD203B41FA5}">
                      <a16:colId xmlns:a16="http://schemas.microsoft.com/office/drawing/2014/main" val="4138245360"/>
                    </a:ext>
                  </a:extLst>
                </a:gridCol>
                <a:gridCol w="3834581">
                  <a:extLst>
                    <a:ext uri="{9D8B030D-6E8A-4147-A177-3AD203B41FA5}">
                      <a16:colId xmlns:a16="http://schemas.microsoft.com/office/drawing/2014/main" val="3957607381"/>
                    </a:ext>
                  </a:extLst>
                </a:gridCol>
                <a:gridCol w="3822292">
                  <a:extLst>
                    <a:ext uri="{9D8B030D-6E8A-4147-A177-3AD203B41FA5}">
                      <a16:colId xmlns:a16="http://schemas.microsoft.com/office/drawing/2014/main" val="105218435"/>
                    </a:ext>
                  </a:extLst>
                </a:gridCol>
              </a:tblGrid>
              <a:tr h="410834">
                <a:tc>
                  <a:txBody>
                    <a:bodyPr/>
                    <a:lstStyle/>
                    <a:p>
                      <a:pPr algn="ctr"/>
                      <a:r>
                        <a:rPr lang="en-US" b="1" dirty="0">
                          <a:effectLst/>
                          <a:latin typeface="Google Sans Text"/>
                        </a:rPr>
                        <a:t>Technical Challenge</a:t>
                      </a:r>
                      <a:endParaRPr lang="en-US" dirty="0">
                        <a:effectLst/>
                        <a:latin typeface="Google Sans Text"/>
                      </a:endParaRPr>
                    </a:p>
                  </a:txBody>
                  <a:tcPr marT="60960" marB="60960" anchor="ctr"/>
                </a:tc>
                <a:tc>
                  <a:txBody>
                    <a:bodyPr/>
                    <a:lstStyle/>
                    <a:p>
                      <a:pPr algn="ctr"/>
                      <a:r>
                        <a:rPr lang="en-US" b="1">
                          <a:effectLst/>
                          <a:latin typeface="Google Sans Text"/>
                        </a:rPr>
                        <a:t>Root Cause</a:t>
                      </a:r>
                      <a:endParaRPr lang="en-US">
                        <a:effectLst/>
                        <a:latin typeface="Google Sans Text"/>
                      </a:endParaRPr>
                    </a:p>
                  </a:txBody>
                  <a:tcPr marT="60960" marB="60960" anchor="ctr"/>
                </a:tc>
                <a:tc>
                  <a:txBody>
                    <a:bodyPr/>
                    <a:lstStyle/>
                    <a:p>
                      <a:pPr algn="ctr"/>
                      <a:r>
                        <a:rPr lang="en-US" b="1" dirty="0">
                          <a:effectLst/>
                          <a:latin typeface="Google Sans Text"/>
                        </a:rPr>
                        <a:t>Engineering Resolution</a:t>
                      </a:r>
                      <a:endParaRPr lang="en-US" dirty="0">
                        <a:effectLst/>
                        <a:latin typeface="Google Sans Text"/>
                      </a:endParaRPr>
                    </a:p>
                  </a:txBody>
                  <a:tcPr marT="60960" marB="60960" anchor="ctr"/>
                </a:tc>
                <a:extLst>
                  <a:ext uri="{0D108BD9-81ED-4DB2-BD59-A6C34878D82A}">
                    <a16:rowId xmlns:a16="http://schemas.microsoft.com/office/drawing/2014/main" val="3307466261"/>
                  </a:ext>
                </a:extLst>
              </a:tr>
              <a:tr h="1264104">
                <a:tc>
                  <a:txBody>
                    <a:bodyPr/>
                    <a:lstStyle/>
                    <a:p>
                      <a:pPr algn="ctr"/>
                      <a:r>
                        <a:rPr lang="en-US" b="1">
                          <a:effectLst/>
                          <a:latin typeface="Google Sans Text"/>
                        </a:rPr>
                        <a:t>Mobile Session Drops</a:t>
                      </a:r>
                      <a:endParaRPr lang="en-US">
                        <a:effectLst/>
                        <a:latin typeface="Google Sans Text"/>
                      </a:endParaRPr>
                    </a:p>
                  </a:txBody>
                  <a:tcPr marT="60960" marB="60960" anchor="ctr"/>
                </a:tc>
                <a:tc>
                  <a:txBody>
                    <a:bodyPr/>
                    <a:lstStyle/>
                    <a:p>
                      <a:r>
                        <a:rPr lang="en-US" dirty="0">
                          <a:effectLst/>
                          <a:latin typeface="Google Sans Text"/>
                        </a:rPr>
                        <a:t>Cellular network handovers terminate long-running synchronous connections.</a:t>
                      </a:r>
                    </a:p>
                  </a:txBody>
                  <a:tcPr marT="60960" marB="60960" anchor="ctr"/>
                </a:tc>
                <a:tc>
                  <a:txBody>
                    <a:bodyPr/>
                    <a:lstStyle/>
                    <a:p>
                      <a:r>
                        <a:rPr lang="en-US">
                          <a:effectLst/>
                          <a:latin typeface="Google Sans Text"/>
                        </a:rPr>
                        <a:t>Implemented an asynchronous Redis queue on the VPS to isolate task execution from client network states.</a:t>
                      </a:r>
                    </a:p>
                  </a:txBody>
                  <a:tcPr marT="60960" marB="60960" anchor="ctr"/>
                </a:tc>
                <a:extLst>
                  <a:ext uri="{0D108BD9-81ED-4DB2-BD59-A6C34878D82A}">
                    <a16:rowId xmlns:a16="http://schemas.microsoft.com/office/drawing/2014/main" val="164334779"/>
                  </a:ext>
                </a:extLst>
              </a:tr>
              <a:tr h="979681">
                <a:tc>
                  <a:txBody>
                    <a:bodyPr/>
                    <a:lstStyle/>
                    <a:p>
                      <a:pPr algn="ctr"/>
                      <a:r>
                        <a:rPr lang="en-US" b="1">
                          <a:effectLst/>
                          <a:latin typeface="Google Sans Text"/>
                        </a:rPr>
                        <a:t>OAuth Scope Limits</a:t>
                      </a:r>
                      <a:endParaRPr lang="en-US">
                        <a:effectLst/>
                        <a:latin typeface="Google Sans Text"/>
                      </a:endParaRPr>
                    </a:p>
                  </a:txBody>
                  <a:tcPr marT="60960" marB="60960" anchor="ctr"/>
                </a:tc>
                <a:tc>
                  <a:txBody>
                    <a:bodyPr/>
                    <a:lstStyle/>
                    <a:p>
                      <a:r>
                        <a:rPr lang="en-US">
                          <a:effectLst/>
                          <a:latin typeface="Google Sans Text"/>
                        </a:rPr>
                        <a:t>Default Supabase OAuth requests basic read-only access.</a:t>
                      </a:r>
                    </a:p>
                  </a:txBody>
                  <a:tcPr marT="60960" marB="60960" anchor="ctr"/>
                </a:tc>
                <a:tc>
                  <a:txBody>
                    <a:bodyPr/>
                    <a:lstStyle/>
                    <a:p>
                      <a:r>
                        <a:rPr lang="en-US">
                          <a:effectLst/>
                          <a:latin typeface="Google Sans Text"/>
                        </a:rPr>
                        <a:t>Explicitly added the repo scope to the Supabase GitHub OAuth flow to enable repository commit access.</a:t>
                      </a:r>
                    </a:p>
                  </a:txBody>
                  <a:tcPr marT="60960" marB="60960" anchor="ctr"/>
                </a:tc>
                <a:extLst>
                  <a:ext uri="{0D108BD9-81ED-4DB2-BD59-A6C34878D82A}">
                    <a16:rowId xmlns:a16="http://schemas.microsoft.com/office/drawing/2014/main" val="1840105424"/>
                  </a:ext>
                </a:extLst>
              </a:tr>
              <a:tr h="1264104">
                <a:tc>
                  <a:txBody>
                    <a:bodyPr/>
                    <a:lstStyle/>
                    <a:p>
                      <a:pPr algn="ctr"/>
                      <a:r>
                        <a:rPr lang="en-US" b="1" dirty="0">
                          <a:effectLst/>
                          <a:latin typeface="Google Sans Text"/>
                        </a:rPr>
                        <a:t>Multi-File Edit Accuracy</a:t>
                      </a:r>
                      <a:endParaRPr lang="en-US" dirty="0">
                        <a:effectLst/>
                        <a:latin typeface="Google Sans Text"/>
                      </a:endParaRPr>
                    </a:p>
                  </a:txBody>
                  <a:tcPr marT="60960" marB="60960" anchor="ctr"/>
                </a:tc>
                <a:tc>
                  <a:txBody>
                    <a:bodyPr/>
                    <a:lstStyle/>
                    <a:p>
                      <a:r>
                        <a:rPr lang="en-US">
                          <a:effectLst/>
                          <a:latin typeface="Google Sans Text"/>
                        </a:rPr>
                        <a:t>Unstructured language model outputs can corrupt existing file trees.</a:t>
                      </a:r>
                    </a:p>
                  </a:txBody>
                  <a:tcPr marT="60960" marB="60960" anchor="ctr"/>
                </a:tc>
                <a:tc>
                  <a:txBody>
                    <a:bodyPr/>
                    <a:lstStyle/>
                    <a:p>
                      <a:r>
                        <a:rPr lang="en-US">
                          <a:effectLst/>
                          <a:latin typeface="Google Sans Text"/>
                        </a:rPr>
                        <a:t>Implemented structured tool functions for targeted line editing and local syntax verification before committing.</a:t>
                      </a:r>
                    </a:p>
                  </a:txBody>
                  <a:tcPr marT="60960" marB="60960" anchor="ctr"/>
                </a:tc>
                <a:extLst>
                  <a:ext uri="{0D108BD9-81ED-4DB2-BD59-A6C34878D82A}">
                    <a16:rowId xmlns:a16="http://schemas.microsoft.com/office/drawing/2014/main" val="1534534899"/>
                  </a:ext>
                </a:extLst>
              </a:tr>
              <a:tr h="979681">
                <a:tc>
                  <a:txBody>
                    <a:bodyPr/>
                    <a:lstStyle/>
                    <a:p>
                      <a:pPr algn="ctr"/>
                      <a:r>
                        <a:rPr lang="en-US" b="1" dirty="0">
                          <a:effectLst/>
                          <a:latin typeface="Google Sans Text"/>
                        </a:rPr>
                        <a:t>Telemetry Server Overhead</a:t>
                      </a:r>
                      <a:endParaRPr lang="en-US" dirty="0">
                        <a:effectLst/>
                        <a:latin typeface="Google Sans Text"/>
                      </a:endParaRPr>
                    </a:p>
                  </a:txBody>
                  <a:tcPr marT="60960" marB="60960" anchor="ctr"/>
                </a:tc>
                <a:tc>
                  <a:txBody>
                    <a:bodyPr/>
                    <a:lstStyle/>
                    <a:p>
                      <a:r>
                        <a:rPr lang="en-US">
                          <a:effectLst/>
                          <a:latin typeface="Google Sans Text"/>
                        </a:rPr>
                        <a:t>Custom WebSocket servers require complex socket tracking and proxy configs.</a:t>
                      </a:r>
                    </a:p>
                  </a:txBody>
                  <a:tcPr marT="60960" marB="60960" anchor="ctr"/>
                </a:tc>
                <a:tc>
                  <a:txBody>
                    <a:bodyPr/>
                    <a:lstStyle/>
                    <a:p>
                      <a:r>
                        <a:rPr lang="en-US" dirty="0">
                          <a:effectLst/>
                          <a:latin typeface="Google Sans Text"/>
                        </a:rPr>
                        <a:t>Integrated Supabase Realtime using Postgres Change Data Capture (CDC) to stream logs directly to the client.</a:t>
                      </a:r>
                    </a:p>
                  </a:txBody>
                  <a:tcPr marT="60960" marB="60960" anchor="ctr"/>
                </a:tc>
                <a:extLst>
                  <a:ext uri="{0D108BD9-81ED-4DB2-BD59-A6C34878D82A}">
                    <a16:rowId xmlns:a16="http://schemas.microsoft.com/office/drawing/2014/main" val="671959632"/>
                  </a:ext>
                </a:extLst>
              </a:tr>
            </a:tbl>
          </a:graphicData>
        </a:graphic>
      </p:graphicFrame>
      <p:sp>
        <p:nvSpPr>
          <p:cNvPr id="4" name="Date Placeholder 3">
            <a:extLst>
              <a:ext uri="{FF2B5EF4-FFF2-40B4-BE49-F238E27FC236}">
                <a16:creationId xmlns:a16="http://schemas.microsoft.com/office/drawing/2014/main" id="{C4A1DEE8-2712-97F8-0AA0-D407B46B9087}"/>
              </a:ext>
            </a:extLst>
          </p:cNvPr>
          <p:cNvSpPr>
            <a:spLocks noGrp="1"/>
          </p:cNvSpPr>
          <p:nvPr>
            <p:ph type="dt" sz="half" idx="10"/>
          </p:nvPr>
        </p:nvSpPr>
        <p:spPr/>
        <p:txBody>
          <a:bodyPr/>
          <a:lstStyle/>
          <a:p>
            <a:fld id="{F50679B5-118A-4821-9284-8B00062E4215}" type="datetime1">
              <a:rPr lang="en-IN" smtClean="0"/>
              <a:t>17-08-2026</a:t>
            </a:fld>
            <a:endParaRPr lang="en-IN"/>
          </a:p>
        </p:txBody>
      </p:sp>
      <p:sp>
        <p:nvSpPr>
          <p:cNvPr id="6" name="Slide Number Placeholder 5">
            <a:extLst>
              <a:ext uri="{FF2B5EF4-FFF2-40B4-BE49-F238E27FC236}">
                <a16:creationId xmlns:a16="http://schemas.microsoft.com/office/drawing/2014/main" id="{FE1246F4-1131-9BC1-6D0A-6F9F2793F809}"/>
              </a:ext>
            </a:extLst>
          </p:cNvPr>
          <p:cNvSpPr>
            <a:spLocks noGrp="1"/>
          </p:cNvSpPr>
          <p:nvPr>
            <p:ph type="sldNum" sz="quarter" idx="12"/>
          </p:nvPr>
        </p:nvSpPr>
        <p:spPr/>
        <p:txBody>
          <a:bodyPr/>
          <a:lstStyle/>
          <a:p>
            <a:fld id="{47526DCF-DF60-4378-BFCC-D3A207344837}" type="slidenum">
              <a:rPr lang="en-IN" smtClean="0"/>
              <a:t>14</a:t>
            </a:fld>
            <a:endParaRPr lang="en-IN"/>
          </a:p>
        </p:txBody>
      </p:sp>
      <p:pic>
        <p:nvPicPr>
          <p:cNvPr id="9" name="Picture 8">
            <a:extLst>
              <a:ext uri="{FF2B5EF4-FFF2-40B4-BE49-F238E27FC236}">
                <a16:creationId xmlns:a16="http://schemas.microsoft.com/office/drawing/2014/main" id="{F10A908C-5F4B-F768-8C8B-F5C0976A47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1AD771F7-282E-846A-B784-11D5298DC5D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423630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16F3-F74C-A352-259B-B4A788B579ED}"/>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Conclusion </a:t>
            </a:r>
          </a:p>
        </p:txBody>
      </p:sp>
      <p:sp>
        <p:nvSpPr>
          <p:cNvPr id="4" name="Date Placeholder 3">
            <a:extLst>
              <a:ext uri="{FF2B5EF4-FFF2-40B4-BE49-F238E27FC236}">
                <a16:creationId xmlns:a16="http://schemas.microsoft.com/office/drawing/2014/main" id="{EE5ACB72-4075-D8FE-FA30-61E1E501C761}"/>
              </a:ext>
            </a:extLst>
          </p:cNvPr>
          <p:cNvSpPr>
            <a:spLocks noGrp="1"/>
          </p:cNvSpPr>
          <p:nvPr>
            <p:ph type="dt" sz="half" idx="10"/>
          </p:nvPr>
        </p:nvSpPr>
        <p:spPr/>
        <p:txBody>
          <a:bodyPr/>
          <a:lstStyle/>
          <a:p>
            <a:fld id="{C14EFD8B-5983-423F-A7AD-7D2DC2E77797}" type="datetime1">
              <a:rPr lang="en-IN" smtClean="0"/>
              <a:t>17-08-2026</a:t>
            </a:fld>
            <a:endParaRPr lang="en-IN"/>
          </a:p>
        </p:txBody>
      </p:sp>
      <p:sp>
        <p:nvSpPr>
          <p:cNvPr id="6" name="Slide Number Placeholder 5">
            <a:extLst>
              <a:ext uri="{FF2B5EF4-FFF2-40B4-BE49-F238E27FC236}">
                <a16:creationId xmlns:a16="http://schemas.microsoft.com/office/drawing/2014/main" id="{ACC6ABC5-6C65-1409-EB69-E2FAC1696D1C}"/>
              </a:ext>
            </a:extLst>
          </p:cNvPr>
          <p:cNvSpPr>
            <a:spLocks noGrp="1"/>
          </p:cNvSpPr>
          <p:nvPr>
            <p:ph type="sldNum" sz="quarter" idx="12"/>
          </p:nvPr>
        </p:nvSpPr>
        <p:spPr/>
        <p:txBody>
          <a:bodyPr/>
          <a:lstStyle/>
          <a:p>
            <a:fld id="{47526DCF-DF60-4378-BFCC-D3A207344837}" type="slidenum">
              <a:rPr lang="en-IN" smtClean="0"/>
              <a:t>15</a:t>
            </a:fld>
            <a:endParaRPr lang="en-IN"/>
          </a:p>
        </p:txBody>
      </p:sp>
      <p:pic>
        <p:nvPicPr>
          <p:cNvPr id="9" name="Picture 8">
            <a:extLst>
              <a:ext uri="{FF2B5EF4-FFF2-40B4-BE49-F238E27FC236}">
                <a16:creationId xmlns:a16="http://schemas.microsoft.com/office/drawing/2014/main" id="{DDAA028D-A19F-C483-14F4-90312A27C6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AC6C5439-0EF1-0B5B-56A0-F5230F70722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5" name="Rectangle 1">
            <a:extLst>
              <a:ext uri="{FF2B5EF4-FFF2-40B4-BE49-F238E27FC236}">
                <a16:creationId xmlns:a16="http://schemas.microsoft.com/office/drawing/2014/main" id="{95563821-26BD-BD69-75A8-65DAC6727862}"/>
              </a:ext>
            </a:extLst>
          </p:cNvPr>
          <p:cNvSpPr>
            <a:spLocks noGrp="1" noChangeArrowheads="1"/>
          </p:cNvSpPr>
          <p:nvPr>
            <p:ph idx="1"/>
          </p:nvPr>
        </p:nvSpPr>
        <p:spPr bwMode="auto">
          <a:xfrm>
            <a:off x="838200" y="1659892"/>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 Objectives Achieved:</a:t>
            </a:r>
            <a:r>
              <a:rPr kumimoji="0" lang="en-US" altLang="en-US" sz="2400" b="0" i="0" u="none" strike="noStrike" cap="none" normalizeH="0" baseline="0" dirty="0">
                <a:ln>
                  <a:noFill/>
                </a:ln>
                <a:solidFill>
                  <a:schemeClr val="tx1"/>
                </a:solidFill>
                <a:effectLst/>
                <a:latin typeface="Arial" panose="020B0604020202020204" pitchFamily="34" charset="0"/>
              </a:rPr>
              <a:t> Successfully developed a functional, decoupled mobile gateway that automates multi-file software modifications from smartphones.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 Core Finding:</a:t>
            </a:r>
            <a:r>
              <a:rPr kumimoji="0" lang="en-US" altLang="en-US" sz="2400" b="0" i="0" u="none" strike="noStrike" cap="none" normalizeH="0" baseline="0" dirty="0">
                <a:ln>
                  <a:noFill/>
                </a:ln>
                <a:solidFill>
                  <a:schemeClr val="tx1"/>
                </a:solidFill>
                <a:effectLst/>
                <a:latin typeface="Arial" panose="020B0604020202020204" pitchFamily="34" charset="0"/>
              </a:rPr>
              <a:t> Asynchronous decoupling of intent submission from server execution resolves the usability and reliability constraints of mobile development.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 System Value:</a:t>
            </a:r>
            <a:r>
              <a:rPr kumimoji="0" lang="en-US" altLang="en-US" sz="2400" b="0" i="0" u="none" strike="noStrike" cap="none" normalizeH="0" baseline="0" dirty="0">
                <a:ln>
                  <a:noFill/>
                </a:ln>
                <a:solidFill>
                  <a:schemeClr val="tx1"/>
                </a:solidFill>
                <a:effectLst/>
                <a:latin typeface="Arial" panose="020B0604020202020204" pitchFamily="34" charset="0"/>
              </a:rPr>
              <a:t> Enables engineers to trigger, supervise, and deploy hotfixes without requiring a desktop workstation.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 Overall Contribution:</a:t>
            </a:r>
            <a:r>
              <a:rPr kumimoji="0" lang="en-US" altLang="en-US" sz="2400" b="0" i="0" u="none" strike="noStrike" cap="none" normalizeH="0" baseline="0" dirty="0">
                <a:ln>
                  <a:noFill/>
                </a:ln>
                <a:solidFill>
                  <a:schemeClr val="tx1"/>
                </a:solidFill>
                <a:effectLst/>
                <a:latin typeface="Arial" panose="020B0604020202020204" pitchFamily="34" charset="0"/>
              </a:rPr>
              <a:t> Bridges the gap between stationary automated coding frameworks and mobile developer workflows through persistent cloud orchestration.</a:t>
            </a:r>
          </a:p>
        </p:txBody>
      </p:sp>
    </p:spTree>
    <p:extLst>
      <p:ext uri="{BB962C8B-B14F-4D97-AF65-F5344CB8AC3E}">
        <p14:creationId xmlns:p14="http://schemas.microsoft.com/office/powerpoint/2010/main" val="183795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0666-1392-9333-3018-8197057B1BDB}"/>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Future Work </a:t>
            </a:r>
          </a:p>
        </p:txBody>
      </p:sp>
      <p:sp>
        <p:nvSpPr>
          <p:cNvPr id="4" name="Date Placeholder 3">
            <a:extLst>
              <a:ext uri="{FF2B5EF4-FFF2-40B4-BE49-F238E27FC236}">
                <a16:creationId xmlns:a16="http://schemas.microsoft.com/office/drawing/2014/main" id="{56F08B5E-4483-07DB-81C8-839D380A8142}"/>
              </a:ext>
            </a:extLst>
          </p:cNvPr>
          <p:cNvSpPr>
            <a:spLocks noGrp="1"/>
          </p:cNvSpPr>
          <p:nvPr>
            <p:ph type="dt" sz="half" idx="10"/>
          </p:nvPr>
        </p:nvSpPr>
        <p:spPr/>
        <p:txBody>
          <a:bodyPr/>
          <a:lstStyle/>
          <a:p>
            <a:fld id="{92FB1FF6-8971-4E86-8EA0-976835DF5F30}" type="datetime1">
              <a:rPr lang="en-IN" smtClean="0"/>
              <a:t>17-08-2026</a:t>
            </a:fld>
            <a:endParaRPr lang="en-IN"/>
          </a:p>
        </p:txBody>
      </p:sp>
      <p:sp>
        <p:nvSpPr>
          <p:cNvPr id="6" name="Slide Number Placeholder 5">
            <a:extLst>
              <a:ext uri="{FF2B5EF4-FFF2-40B4-BE49-F238E27FC236}">
                <a16:creationId xmlns:a16="http://schemas.microsoft.com/office/drawing/2014/main" id="{57708094-4C4F-2666-5C5E-3A8653E9BA71}"/>
              </a:ext>
            </a:extLst>
          </p:cNvPr>
          <p:cNvSpPr>
            <a:spLocks noGrp="1"/>
          </p:cNvSpPr>
          <p:nvPr>
            <p:ph type="sldNum" sz="quarter" idx="12"/>
          </p:nvPr>
        </p:nvSpPr>
        <p:spPr/>
        <p:txBody>
          <a:bodyPr/>
          <a:lstStyle/>
          <a:p>
            <a:fld id="{47526DCF-DF60-4378-BFCC-D3A207344837}" type="slidenum">
              <a:rPr lang="en-IN" smtClean="0"/>
              <a:t>16</a:t>
            </a:fld>
            <a:endParaRPr lang="en-IN"/>
          </a:p>
        </p:txBody>
      </p:sp>
      <p:pic>
        <p:nvPicPr>
          <p:cNvPr id="9" name="Picture 8">
            <a:extLst>
              <a:ext uri="{FF2B5EF4-FFF2-40B4-BE49-F238E27FC236}">
                <a16:creationId xmlns:a16="http://schemas.microsoft.com/office/drawing/2014/main" id="{90FA76CE-D96B-D6F3-5563-0D7D7889B2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A0A63D01-944E-DB5E-C2C6-6F91DFC295D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5" name="Rectangle 1">
            <a:extLst>
              <a:ext uri="{FF2B5EF4-FFF2-40B4-BE49-F238E27FC236}">
                <a16:creationId xmlns:a16="http://schemas.microsoft.com/office/drawing/2014/main" id="{BB2C8CD0-1F7C-6503-0D15-4DE400232783}"/>
              </a:ext>
            </a:extLst>
          </p:cNvPr>
          <p:cNvSpPr>
            <a:spLocks noGrp="1" noChangeArrowheads="1"/>
          </p:cNvSpPr>
          <p:nvPr>
            <p:ph idx="1"/>
          </p:nvPr>
        </p:nvSpPr>
        <p:spPr bwMode="auto">
          <a:xfrm>
            <a:off x="838200" y="2274838"/>
            <a:ext cx="10515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Voice Intent Integration:</a:t>
            </a:r>
            <a:r>
              <a:rPr kumimoji="0" lang="en-US" altLang="en-US" sz="2400" b="0" i="0" u="none" strike="noStrike" cap="none" normalizeH="0" baseline="0" dirty="0">
                <a:ln>
                  <a:noFill/>
                </a:ln>
                <a:solidFill>
                  <a:schemeClr val="tx1"/>
                </a:solidFill>
                <a:effectLst/>
                <a:latin typeface="Arial" panose="020B0604020202020204" pitchFamily="34" charset="0"/>
              </a:rPr>
              <a:t> Integrate speech-to-text models to support voice-driven feature prompting on mobile devices.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Parallel Multi-Repo Processing:</a:t>
            </a:r>
            <a:r>
              <a:rPr kumimoji="0" lang="en-US" altLang="en-US" sz="2400" b="0" i="0" u="none" strike="noStrike" cap="none" normalizeH="0" baseline="0" dirty="0">
                <a:ln>
                  <a:noFill/>
                </a:ln>
                <a:solidFill>
                  <a:schemeClr val="tx1"/>
                </a:solidFill>
                <a:effectLst/>
                <a:latin typeface="Arial" panose="020B0604020202020204" pitchFamily="34" charset="0"/>
              </a:rPr>
              <a:t> Expand the Redis worker architecture to support concurrent task processing across multiple repositories.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 Automated PR &amp; Testing Pipelines:</a:t>
            </a:r>
            <a:r>
              <a:rPr kumimoji="0" lang="en-US" altLang="en-US" sz="2400" b="0" i="0" u="none" strike="noStrike" cap="none" normalizeH="0" baseline="0" dirty="0">
                <a:ln>
                  <a:noFill/>
                </a:ln>
                <a:solidFill>
                  <a:schemeClr val="tx1"/>
                </a:solidFill>
                <a:effectLst/>
                <a:latin typeface="Arial" panose="020B0604020202020204" pitchFamily="34" charset="0"/>
              </a:rPr>
              <a:t> Add support for automated pull request summaries, code review checks, and multi-branch testing suites.</a:t>
            </a:r>
          </a:p>
        </p:txBody>
      </p:sp>
    </p:spTree>
    <p:extLst>
      <p:ext uri="{BB962C8B-B14F-4D97-AF65-F5344CB8AC3E}">
        <p14:creationId xmlns:p14="http://schemas.microsoft.com/office/powerpoint/2010/main" val="1889306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AD2F-7B2B-C452-DECD-919AEC63C893}"/>
              </a:ext>
            </a:extLst>
          </p:cNvPr>
          <p:cNvSpPr>
            <a:spLocks noGrp="1"/>
          </p:cNvSpPr>
          <p:nvPr>
            <p:ph type="title"/>
          </p:nvPr>
        </p:nvSpPr>
        <p:spPr/>
        <p:txBody>
          <a:bodyPr/>
          <a:lstStyle/>
          <a:p>
            <a:pPr algn="ctr"/>
            <a:r>
              <a:rPr lang="en-IN" b="1" dirty="0">
                <a:solidFill/>
                <a:latin typeface="Times New Roman" panose="02020603050405020304" pitchFamily="18" charset="0"/>
                <a:cs typeface="Times New Roman" panose="02020603050405020304" pitchFamily="18" charset="0"/>
              </a:rPr>
              <a:t>References</a:t>
            </a:r>
            <a:r>
              <a:rPr lang="en-IN" dirty="0">
                <a:solidFill/>
              </a:rPr>
              <a:t> </a:t>
            </a:r>
          </a:p>
        </p:txBody>
      </p:sp>
      <p:sp>
        <p:nvSpPr>
          <p:cNvPr id="4" name="Date Placeholder 3">
            <a:extLst>
              <a:ext uri="{FF2B5EF4-FFF2-40B4-BE49-F238E27FC236}">
                <a16:creationId xmlns:a16="http://schemas.microsoft.com/office/drawing/2014/main" id="{4A573FE8-0932-BE50-70F2-DCCFB9930475}"/>
              </a:ext>
            </a:extLst>
          </p:cNvPr>
          <p:cNvSpPr>
            <a:spLocks noGrp="1"/>
          </p:cNvSpPr>
          <p:nvPr>
            <p:ph type="dt" sz="half" idx="10"/>
          </p:nvPr>
        </p:nvSpPr>
        <p:spPr/>
        <p:txBody>
          <a:bodyPr/>
          <a:lstStyle/>
          <a:p>
            <a:fld id="{4C2ABE09-287E-4832-A045-7F311C1A2B3E}" type="datetime1">
              <a:rPr lang="en-IN" smtClean="0"/>
              <a:t>17-08-2026</a:t>
            </a:fld>
            <a:endParaRPr lang="en-IN"/>
          </a:p>
        </p:txBody>
      </p:sp>
      <p:sp>
        <p:nvSpPr>
          <p:cNvPr id="6" name="Slide Number Placeholder 5">
            <a:extLst>
              <a:ext uri="{FF2B5EF4-FFF2-40B4-BE49-F238E27FC236}">
                <a16:creationId xmlns:a16="http://schemas.microsoft.com/office/drawing/2014/main" id="{5E6A9A61-9870-D7FA-34D9-C5E639AC0867}"/>
              </a:ext>
            </a:extLst>
          </p:cNvPr>
          <p:cNvSpPr>
            <a:spLocks noGrp="1"/>
          </p:cNvSpPr>
          <p:nvPr>
            <p:ph type="sldNum" sz="quarter" idx="12"/>
          </p:nvPr>
        </p:nvSpPr>
        <p:spPr/>
        <p:txBody>
          <a:bodyPr/>
          <a:lstStyle/>
          <a:p>
            <a:fld id="{47526DCF-DF60-4378-BFCC-D3A207344837}" type="slidenum">
              <a:rPr lang="en-IN" smtClean="0"/>
              <a:t>17</a:t>
            </a:fld>
            <a:endParaRPr lang="en-IN"/>
          </a:p>
        </p:txBody>
      </p:sp>
      <p:pic>
        <p:nvPicPr>
          <p:cNvPr id="9" name="Picture 8">
            <a:extLst>
              <a:ext uri="{FF2B5EF4-FFF2-40B4-BE49-F238E27FC236}">
                <a16:creationId xmlns:a16="http://schemas.microsoft.com/office/drawing/2014/main" id="{45FE3FE4-5126-669B-52FC-003D30C3BB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1" name="Picture 10">
            <a:extLst>
              <a:ext uri="{FF2B5EF4-FFF2-40B4-BE49-F238E27FC236}">
                <a16:creationId xmlns:a16="http://schemas.microsoft.com/office/drawing/2014/main" id="{9E976A07-ADEB-56BB-BB66-6DFE7A8EBA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
        <p:nvSpPr>
          <p:cNvPr id="7" name="Rectangle 2">
            <a:extLst>
              <a:ext uri="{FF2B5EF4-FFF2-40B4-BE49-F238E27FC236}">
                <a16:creationId xmlns:a16="http://schemas.microsoft.com/office/drawing/2014/main" id="{49C95D6E-04A1-ACE7-1AD3-8C1FB644EBE1}"/>
              </a:ext>
            </a:extLst>
          </p:cNvPr>
          <p:cNvSpPr>
            <a:spLocks noGrp="1" noChangeArrowheads="1"/>
          </p:cNvSpPr>
          <p:nvPr>
            <p:ph idx="1"/>
          </p:nvPr>
        </p:nvSpPr>
        <p:spPr bwMode="auto">
          <a:xfrm>
            <a:off x="838200" y="2131552"/>
            <a:ext cx="10626218"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oogle Sans Text"/>
              </a:rPr>
              <a:t> </a:t>
            </a:r>
            <a:r>
              <a:rPr kumimoji="0" lang="en-US" altLang="en-US" sz="2400" b="1" i="0" u="none" strike="noStrike" cap="none" normalizeH="0" baseline="0" dirty="0">
                <a:ln>
                  <a:noFill/>
                </a:ln>
                <a:solidFill>
                  <a:schemeClr val="tx1"/>
                </a:solidFill>
                <a:effectLst/>
                <a:latin typeface="Google Sans Text"/>
              </a:rPr>
              <a:t>J. Yang, C. E. Jimenez, A. </a:t>
            </a:r>
            <a:r>
              <a:rPr kumimoji="0" lang="en-US" altLang="en-US" sz="2400" b="1" i="0" u="none" strike="noStrike" cap="none" normalizeH="0" baseline="0" dirty="0" err="1">
                <a:ln>
                  <a:noFill/>
                </a:ln>
                <a:solidFill>
                  <a:schemeClr val="tx1"/>
                </a:solidFill>
                <a:effectLst/>
                <a:latin typeface="Google Sans Text"/>
              </a:rPr>
              <a:t>Wettig</a:t>
            </a:r>
            <a:r>
              <a:rPr kumimoji="0" lang="en-US" altLang="en-US" sz="2400" b="1" i="0" u="none" strike="noStrike" cap="none" normalizeH="0" baseline="0" dirty="0">
                <a:ln>
                  <a:noFill/>
                </a:ln>
                <a:solidFill>
                  <a:schemeClr val="tx1"/>
                </a:solidFill>
                <a:effectLst/>
                <a:latin typeface="Google Sans Text"/>
              </a:rPr>
              <a:t>, et al., </a:t>
            </a:r>
            <a:r>
              <a:rPr kumimoji="0" lang="en-US" altLang="en-US" sz="2400" b="0" i="0" u="none" strike="noStrike" cap="none" normalizeH="0" baseline="0" dirty="0">
                <a:ln>
                  <a:noFill/>
                </a:ln>
                <a:solidFill>
                  <a:schemeClr val="tx1"/>
                </a:solidFill>
                <a:effectLst/>
                <a:latin typeface="Google Sans Text"/>
                <a:hlinkClick r:id="rId4" action="ppaction://hlinksldjump" tooltip="https://arxiv.org/pdf/2405.15793"/>
              </a:rPr>
              <a:t>"SWE-agent: Agent-Computer Interfaces Enable Automated Software Engineering," </a:t>
            </a:r>
            <a:r>
              <a:rPr kumimoji="0" lang="en-US" altLang="en-US" sz="2400" b="0" i="1" u="none" strike="noStrike" cap="none" normalizeH="0" baseline="0" dirty="0">
                <a:ln>
                  <a:noFill/>
                </a:ln>
                <a:solidFill>
                  <a:schemeClr val="tx1"/>
                </a:solidFill>
                <a:effectLst/>
                <a:latin typeface="Google Sans Text"/>
                <a:hlinkClick r:id="rId4" action="ppaction://hlinksldjump" tooltip="https://arxiv.org/pdf/2405.15793"/>
              </a:rPr>
              <a:t>NeurIPS</a:t>
            </a:r>
            <a:r>
              <a:rPr kumimoji="0" lang="en-US" altLang="en-US" sz="2400" b="0" i="0" u="none" strike="noStrike" cap="none" normalizeH="0" baseline="0" dirty="0">
                <a:ln>
                  <a:noFill/>
                </a:ln>
                <a:solidFill>
                  <a:schemeClr val="tx1"/>
                </a:solidFill>
                <a:effectLst/>
                <a:latin typeface="Google Sans Text"/>
                <a:hlinkClick r:id="rId4" action="ppaction://hlinksldjump" tooltip="https://arxiv.org/pdf/2405.15793"/>
              </a:rPr>
              <a:t>, 2024. </a:t>
            </a:r>
            <a:endParaRPr kumimoji="0" lang="en-US" altLang="en-US" sz="2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oogle Sans Text"/>
              </a:rPr>
              <a:t> </a:t>
            </a:r>
            <a:r>
              <a:rPr kumimoji="0" lang="en-US" altLang="en-US" sz="2400" b="1" i="0" u="none" strike="noStrike" cap="none" normalizeH="0" baseline="0" dirty="0">
                <a:ln>
                  <a:noFill/>
                </a:ln>
                <a:solidFill>
                  <a:schemeClr val="tx1"/>
                </a:solidFill>
                <a:effectLst/>
                <a:latin typeface="Google Sans Text"/>
              </a:rPr>
              <a:t>C. E. Jimenez, J. Yang, A. </a:t>
            </a:r>
            <a:r>
              <a:rPr kumimoji="0" lang="en-US" altLang="en-US" sz="2400" b="1" i="0" u="none" strike="noStrike" cap="none" normalizeH="0" baseline="0" dirty="0" err="1">
                <a:ln>
                  <a:noFill/>
                </a:ln>
                <a:solidFill>
                  <a:schemeClr val="tx1"/>
                </a:solidFill>
                <a:effectLst/>
                <a:latin typeface="Google Sans Text"/>
              </a:rPr>
              <a:t>Wettig</a:t>
            </a:r>
            <a:r>
              <a:rPr kumimoji="0" lang="en-US" altLang="en-US" sz="2400" b="1" i="0" u="none" strike="noStrike" cap="none" normalizeH="0" baseline="0" dirty="0">
                <a:ln>
                  <a:noFill/>
                </a:ln>
                <a:solidFill>
                  <a:schemeClr val="tx1"/>
                </a:solidFill>
                <a:effectLst/>
                <a:latin typeface="Google Sans Text"/>
              </a:rPr>
              <a:t>, et al., </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VTF8yNQM66"/>
              </a:rPr>
              <a:t>"SWE-bench: Can Language Models Resolve Real-World GitHub Issues?," </a:t>
            </a:r>
            <a:r>
              <a:rPr kumimoji="0" lang="en-US" altLang="en-US" sz="2400" b="0" i="1" u="none" strike="noStrike" cap="none" normalizeH="0" baseline="0" dirty="0">
                <a:ln>
                  <a:noFill/>
                </a:ln>
                <a:solidFill>
                  <a:schemeClr val="tx1"/>
                </a:solidFill>
                <a:effectLst/>
                <a:latin typeface="Google Sans Text"/>
                <a:hlinkClick r:id="rId4" action="ppaction://hlinksldjump" tooltip="https://openreview.net/pdf?id=VTF8yNQM66"/>
              </a:rPr>
              <a:t>ICLR</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VTF8yNQM66"/>
              </a:rPr>
              <a:t>, 2024.</a:t>
            </a:r>
            <a:endParaRPr kumimoji="0" lang="en-US" altLang="en-US" sz="2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oogle Sans Text"/>
              </a:rPr>
              <a:t> </a:t>
            </a:r>
            <a:r>
              <a:rPr kumimoji="0" lang="en-US" altLang="en-US" sz="2400" b="1" i="0" u="none" strike="noStrike" cap="none" normalizeH="0" baseline="0" dirty="0">
                <a:ln>
                  <a:noFill/>
                </a:ln>
                <a:solidFill>
                  <a:schemeClr val="tx1"/>
                </a:solidFill>
                <a:effectLst/>
                <a:latin typeface="Google Sans Text"/>
              </a:rPr>
              <a:t>S. Hong, M. </a:t>
            </a:r>
            <a:r>
              <a:rPr kumimoji="0" lang="en-US" altLang="en-US" sz="2400" b="1" i="0" u="none" strike="noStrike" cap="none" normalizeH="0" baseline="0" dirty="0" err="1">
                <a:ln>
                  <a:noFill/>
                </a:ln>
                <a:solidFill>
                  <a:schemeClr val="tx1"/>
                </a:solidFill>
                <a:effectLst/>
                <a:latin typeface="Google Sans Text"/>
              </a:rPr>
              <a:t>Zhuge</a:t>
            </a:r>
            <a:r>
              <a:rPr kumimoji="0" lang="en-US" altLang="en-US" sz="2400" b="1" i="0" u="none" strike="noStrike" cap="none" normalizeH="0" baseline="0" dirty="0">
                <a:ln>
                  <a:noFill/>
                </a:ln>
                <a:solidFill>
                  <a:schemeClr val="tx1"/>
                </a:solidFill>
                <a:effectLst/>
                <a:latin typeface="Google Sans Text"/>
              </a:rPr>
              <a:t>, J. Chen, et al., </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VtmBAGCN7o"/>
              </a:rPr>
              <a:t>"MetaGPT: Meta Programming for A Multi-Agent Collaborative Framework," </a:t>
            </a:r>
            <a:r>
              <a:rPr kumimoji="0" lang="en-US" altLang="en-US" sz="2400" b="0" i="1" u="none" strike="noStrike" cap="none" normalizeH="0" baseline="0" dirty="0">
                <a:ln>
                  <a:noFill/>
                </a:ln>
                <a:solidFill>
                  <a:schemeClr val="tx1"/>
                </a:solidFill>
                <a:effectLst/>
                <a:latin typeface="Google Sans Text"/>
                <a:hlinkClick r:id="rId4" action="ppaction://hlinksldjump" tooltip="https://openreview.net/pdf?id=VtmBAGCN7o"/>
              </a:rPr>
              <a:t>ICLR</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VtmBAGCN7o"/>
              </a:rPr>
              <a:t>, 2024.</a:t>
            </a:r>
            <a:endParaRPr kumimoji="0" lang="en-US" altLang="en-US" sz="2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oogle Sans Text"/>
              </a:rPr>
              <a:t> </a:t>
            </a:r>
            <a:r>
              <a:rPr kumimoji="0" lang="en-US" altLang="en-US" sz="2400" b="1" i="0" u="none" strike="noStrike" cap="none" normalizeH="0" baseline="0" dirty="0">
                <a:ln>
                  <a:noFill/>
                </a:ln>
                <a:solidFill>
                  <a:schemeClr val="tx1"/>
                </a:solidFill>
                <a:effectLst/>
                <a:latin typeface="Google Sans Text"/>
              </a:rPr>
              <a:t>C. Qian, W. Liu, H. Liu, et al.,</a:t>
            </a:r>
            <a:r>
              <a:rPr kumimoji="0" lang="en-US" altLang="en-US" sz="2400" b="0" i="0" u="none" strike="noStrike" cap="none" normalizeH="0" baseline="0" dirty="0">
                <a:ln>
                  <a:noFill/>
                </a:ln>
                <a:solidFill>
                  <a:schemeClr val="tx1"/>
                </a:solidFill>
                <a:effectLst/>
                <a:latin typeface="Google Sans Text"/>
              </a:rPr>
              <a:t> </a:t>
            </a:r>
            <a:r>
              <a:rPr kumimoji="0" lang="en-US" altLang="en-US" sz="2400" b="0" i="0" u="none" strike="noStrike" cap="none" normalizeH="0" baseline="0" dirty="0">
                <a:ln>
                  <a:noFill/>
                </a:ln>
                <a:solidFill>
                  <a:schemeClr val="tx1"/>
                </a:solidFill>
                <a:effectLst/>
                <a:latin typeface="Google Sans Text"/>
                <a:hlinkClick r:id="rId4" action="ppaction://hlinksldjump" tooltip="https://aclanthology.org/2024.acl-long.810.pdf"/>
              </a:rPr>
              <a:t>"ChatDev: Communicative Agents for Software Development," </a:t>
            </a:r>
            <a:r>
              <a:rPr kumimoji="0" lang="en-US" altLang="en-US" sz="2400" b="0" i="1" u="none" strike="noStrike" cap="none" normalizeH="0" baseline="0" dirty="0">
                <a:ln>
                  <a:noFill/>
                </a:ln>
                <a:solidFill>
                  <a:schemeClr val="tx1"/>
                </a:solidFill>
                <a:effectLst/>
                <a:latin typeface="Google Sans Text"/>
                <a:hlinkClick r:id="rId4" action="ppaction://hlinksldjump" tooltip="https://aclanthology.org/2024.acl-long.810.pdf"/>
              </a:rPr>
              <a:t>ACL</a:t>
            </a:r>
            <a:r>
              <a:rPr kumimoji="0" lang="en-US" altLang="en-US" sz="2400" b="0" i="0" u="none" strike="noStrike" cap="none" normalizeH="0" baseline="0" dirty="0">
                <a:ln>
                  <a:noFill/>
                </a:ln>
                <a:solidFill>
                  <a:schemeClr val="tx1"/>
                </a:solidFill>
                <a:effectLst/>
                <a:latin typeface="Google Sans Text"/>
                <a:hlinkClick r:id="rId4" action="ppaction://hlinksldjump" tooltip="https://aclanthology.org/2024.acl-long.810.pdf"/>
              </a:rPr>
              <a:t>, pp. 835–848, 2024.</a:t>
            </a:r>
            <a:endParaRPr kumimoji="0" lang="en-US" altLang="en-US" sz="2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oogle Sans Text"/>
              </a:rPr>
              <a:t> </a:t>
            </a:r>
            <a:r>
              <a:rPr kumimoji="0" lang="en-US" altLang="en-US" sz="2400" b="1" i="0" u="none" strike="noStrike" cap="none" normalizeH="0" baseline="0" dirty="0">
                <a:ln>
                  <a:noFill/>
                </a:ln>
                <a:solidFill>
                  <a:schemeClr val="tx1"/>
                </a:solidFill>
                <a:effectLst/>
                <a:latin typeface="Google Sans Text"/>
              </a:rPr>
              <a:t>P. Bhoopchand, et al., </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GHKj1XcSlt"/>
              </a:rPr>
              <a:t>"SERA: Soft-Verified Efficient Repository Agents," </a:t>
            </a:r>
            <a:r>
              <a:rPr kumimoji="0" lang="en-US" altLang="en-US" sz="2400" b="0" i="1" u="none" strike="noStrike" cap="none" normalizeH="0" baseline="0" dirty="0" err="1">
                <a:ln>
                  <a:noFill/>
                </a:ln>
                <a:solidFill>
                  <a:schemeClr val="tx1"/>
                </a:solidFill>
                <a:effectLst/>
                <a:latin typeface="Google Sans Text"/>
                <a:hlinkClick r:id="rId4" action="ppaction://hlinksldjump" tooltip="https://openreview.net/pdf?id=GHKj1XcSlt"/>
              </a:rPr>
              <a:t>arXiv</a:t>
            </a:r>
            <a:r>
              <a:rPr kumimoji="0" lang="en-US" altLang="en-US" sz="2400" b="0" i="1" u="none" strike="noStrike" cap="none" normalizeH="0" baseline="0" dirty="0">
                <a:ln>
                  <a:noFill/>
                </a:ln>
                <a:solidFill>
                  <a:schemeClr val="tx1"/>
                </a:solidFill>
                <a:effectLst/>
                <a:latin typeface="Google Sans Text"/>
                <a:hlinkClick r:id="rId4" action="ppaction://hlinksldjump" tooltip="https://openreview.net/pdf?id=GHKj1XcSlt"/>
              </a:rPr>
              <a:t> preprint arXiv:2403.04781</a:t>
            </a:r>
            <a:r>
              <a:rPr kumimoji="0" lang="en-US" altLang="en-US" sz="2400" b="0" i="0" u="none" strike="noStrike" cap="none" normalizeH="0" baseline="0" dirty="0">
                <a:ln>
                  <a:noFill/>
                </a:ln>
                <a:solidFill>
                  <a:schemeClr val="tx1"/>
                </a:solidFill>
                <a:effectLst/>
                <a:latin typeface="Google Sans Text"/>
                <a:hlinkClick r:id="rId4" action="ppaction://hlinksldjump" tooltip="https://openreview.net/pdf?id=GHKj1XcSlt"/>
              </a:rPr>
              <a:t>, 2024.</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9376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66C50-6FD8-DD5F-6FF5-BB9DD6B7E1D3}"/>
              </a:ext>
            </a:extLst>
          </p:cNvPr>
          <p:cNvSpPr>
            <a:spLocks noGrp="1"/>
          </p:cNvSpPr>
          <p:nvPr>
            <p:ph idx="1"/>
          </p:nvPr>
        </p:nvSpPr>
        <p:spPr/>
        <p:txBody>
          <a:bodyPr wrap="square"/>
          <a:lstStyle/>
          <a:p>
            <a:pPr marL="0" indent="0" algn="ctr">
              <a:buNone/>
            </a:pPr>
            <a:endParaRPr lang="en-IN" sz="2200" b="1" i="1" dirty="0">
              <a:latin typeface="Times New Roman"/>
            </a:endParaRPr>
          </a:p>
          <a:p>
            <a:pPr marL="0" indent="0" algn="ctr">
              <a:buNone/>
            </a:pPr>
            <a:endParaRPr lang="en-IN" sz="2200" b="1" i="1" dirty="0">
              <a:latin typeface="Times New Roman"/>
            </a:endParaRPr>
          </a:p>
          <a:p>
            <a:pPr marL="0" indent="0" algn="ctr">
              <a:buNone/>
            </a:pPr>
            <a:r>
              <a:rPr sz="2200" b="1" i="1" dirty="0">
                <a:latin typeface="Times New Roman"/>
              </a:rPr>
              <a:t>Any Queries/ Questions?
</a:t>
            </a:r>
            <a:r>
              <a:rPr sz="2200" b="0" i="1" dirty="0">
                <a:solidFill>
                  <a:srgbClr val="A6A6A6"/>
                </a:solidFill>
                <a:latin typeface="Times New Roman"/>
              </a:rPr>
              <a:t>
</a:t>
            </a:r>
            <a:endParaRPr lang="en-IN" dirty="0"/>
          </a:p>
        </p:txBody>
      </p:sp>
      <p:sp>
        <p:nvSpPr>
          <p:cNvPr id="4" name="Date Placeholder 3">
            <a:extLst>
              <a:ext uri="{FF2B5EF4-FFF2-40B4-BE49-F238E27FC236}">
                <a16:creationId xmlns:a16="http://schemas.microsoft.com/office/drawing/2014/main" id="{0A1389F3-38E7-E345-6C1B-55E8D0E4A115}"/>
              </a:ext>
            </a:extLst>
          </p:cNvPr>
          <p:cNvSpPr>
            <a:spLocks noGrp="1"/>
          </p:cNvSpPr>
          <p:nvPr>
            <p:ph type="dt" sz="half" idx="10"/>
          </p:nvPr>
        </p:nvSpPr>
        <p:spPr/>
        <p:txBody>
          <a:bodyPr/>
          <a:lstStyle/>
          <a:p>
            <a:fld id="{0A712F6F-D237-4159-8F7A-A04BEECBE415}" type="datetime1">
              <a:rPr lang="en-IN" smtClean="0"/>
              <a:t>17-08-2026</a:t>
            </a:fld>
            <a:endParaRPr lang="en-IN"/>
          </a:p>
        </p:txBody>
      </p:sp>
      <p:sp>
        <p:nvSpPr>
          <p:cNvPr id="6" name="Slide Number Placeholder 5">
            <a:extLst>
              <a:ext uri="{FF2B5EF4-FFF2-40B4-BE49-F238E27FC236}">
                <a16:creationId xmlns:a16="http://schemas.microsoft.com/office/drawing/2014/main" id="{9BF642DD-AAA8-D382-7575-AA032AC13491}"/>
              </a:ext>
            </a:extLst>
          </p:cNvPr>
          <p:cNvSpPr>
            <a:spLocks noGrp="1"/>
          </p:cNvSpPr>
          <p:nvPr>
            <p:ph type="sldNum" sz="quarter" idx="12"/>
          </p:nvPr>
        </p:nvSpPr>
        <p:spPr/>
        <p:txBody>
          <a:bodyPr/>
          <a:lstStyle/>
          <a:p>
            <a:fld id="{47526DCF-DF60-4378-BFCC-D3A207344837}" type="slidenum">
              <a:rPr lang="en-IN" smtClean="0"/>
              <a:t>18</a:t>
            </a:fld>
            <a:endParaRPr lang="en-IN"/>
          </a:p>
        </p:txBody>
      </p:sp>
      <p:pic>
        <p:nvPicPr>
          <p:cNvPr id="8" name="Picture 7">
            <a:extLst>
              <a:ext uri="{FF2B5EF4-FFF2-40B4-BE49-F238E27FC236}">
                <a16:creationId xmlns:a16="http://schemas.microsoft.com/office/drawing/2014/main" id="{AD01D434-D9FC-9060-932D-F158A5B0FF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82733" y="490427"/>
            <a:ext cx="781685" cy="716915"/>
          </a:xfrm>
          <a:prstGeom prst="rect">
            <a:avLst/>
          </a:prstGeom>
          <a:noFill/>
          <a:ln>
            <a:noFill/>
          </a:ln>
        </p:spPr>
      </p:pic>
      <p:pic>
        <p:nvPicPr>
          <p:cNvPr id="10" name="Picture 9">
            <a:extLst>
              <a:ext uri="{FF2B5EF4-FFF2-40B4-BE49-F238E27FC236}">
                <a16:creationId xmlns:a16="http://schemas.microsoft.com/office/drawing/2014/main" id="{0BB8D770-0A8B-B0CE-3AC9-1D7F6642BE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72" y="441236"/>
            <a:ext cx="1049749" cy="677182"/>
          </a:xfrm>
          <a:prstGeom prst="rect">
            <a:avLst/>
          </a:prstGeom>
          <a:noFill/>
          <a:ln>
            <a:noFill/>
          </a:ln>
        </p:spPr>
      </p:pic>
    </p:spTree>
    <p:extLst>
      <p:ext uri="{BB962C8B-B14F-4D97-AF65-F5344CB8AC3E}">
        <p14:creationId xmlns:p14="http://schemas.microsoft.com/office/powerpoint/2010/main" val="2813571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339</TotalTime>
  <Words>1720</Words>
  <Application>Microsoft Office PowerPoint</Application>
  <PresentationFormat>Widescreen</PresentationFormat>
  <Paragraphs>211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Google Sans Text</vt:lpstr>
      <vt:lpstr>Times New Roman</vt:lpstr>
      <vt:lpstr>Wingdings</vt:lpstr>
      <vt:lpstr>Office Theme</vt:lpstr>
      <vt:lpstr>               Major Project  Branch:  CSE – IOT &amp; Cyber Security including Blockchain Technology Department: Data Engineering  Semester: VII    Section: A          Regulation: R23       Course Code: R23MSCSP003</vt:lpstr>
      <vt:lpstr>                              Abstract</vt:lpstr>
      <vt:lpstr>Introduction</vt:lpstr>
      <vt:lpstr>Literature Review/ Background Study</vt:lpstr>
      <vt:lpstr>Problem Statement </vt:lpstr>
      <vt:lpstr>Project Objectives </vt:lpstr>
      <vt:lpstr>Project Scope </vt:lpstr>
      <vt:lpstr>Data Gathered/ Data Used</vt:lpstr>
      <vt:lpstr>Methodology / System Design</vt:lpstr>
      <vt:lpstr>Methodology/ System Design(cont.)</vt:lpstr>
      <vt:lpstr>Implementation / Modules</vt:lpstr>
      <vt:lpstr>Results (Full) / Screenshots </vt:lpstr>
      <vt:lpstr>Impact Assessment </vt:lpstr>
      <vt:lpstr>Challenges Faced </vt:lpstr>
      <vt:lpstr>Conclusion </vt:lpstr>
      <vt:lpstr>Future Work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Vatekar</dc:creator>
  <cp:lastModifiedBy>Aswinsai Palakonda</cp:lastModifiedBy>
  <cp:revision>9</cp:revision>
  <dcterms:created xsi:type="dcterms:W3CDTF">2025-09-22T15:29:51Z</dcterms:created>
  <dcterms:modified xsi:type="dcterms:W3CDTF">2026-08-17T06:25:18Z</dcterms:modified>
</cp:coreProperties>
</file>